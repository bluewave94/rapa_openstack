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3" r:id="rId2"/>
    <p:sldId id="292" r:id="rId3"/>
    <p:sldId id="256" r:id="rId4"/>
    <p:sldId id="258" r:id="rId5"/>
    <p:sldId id="259" r:id="rId6"/>
    <p:sldId id="257" r:id="rId7"/>
    <p:sldId id="260" r:id="rId8"/>
    <p:sldId id="263" r:id="rId9"/>
    <p:sldId id="264" r:id="rId10"/>
    <p:sldId id="261" r:id="rId11"/>
    <p:sldId id="262" r:id="rId12"/>
    <p:sldId id="265" r:id="rId13"/>
    <p:sldId id="266" r:id="rId14"/>
    <p:sldId id="267" r:id="rId15"/>
    <p:sldId id="268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C51E5F-FA56-45C3-9B4F-C3303DAE8C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CA14C77-A88F-475D-91A8-AA18F1DFD5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2A7B61A-E6AE-496D-A1DF-B00600C76D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B69C2A-3C3E-4C57-BDC4-44500BFC523E}" type="datetimeFigureOut">
              <a:rPr lang="ko-KR" altLang="en-US" smtClean="0"/>
              <a:t>2019-01-17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F3A4195-5A4D-4C9E-9226-E8F3693E64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D5A2FB3-F190-43F2-8D22-C3C70EB89D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A47DD-C88A-4647-B01F-D68BE85FAF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70737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7D075C-E9E0-461A-A540-B86286DC9D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3746C7E-9BA8-495A-B0DF-74F4DB4E48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0D23652-6138-41F9-87F9-59DA8E281A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B69C2A-3C3E-4C57-BDC4-44500BFC523E}" type="datetimeFigureOut">
              <a:rPr lang="ko-KR" altLang="en-US" smtClean="0"/>
              <a:t>2019-01-17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C222153-E604-42D0-AC88-F62F6126F9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C60DF89-92BC-4E3F-A80A-34F4AF1126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A47DD-C88A-4647-B01F-D68BE85FAF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79515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23F2D3-7604-408C-9091-1CA6BE5E67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B19726F-0A8C-49FC-BA18-8E1AB55FA9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E44D4D9-23DD-447F-B145-C091024362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B69C2A-3C3E-4C57-BDC4-44500BFC523E}" type="datetimeFigureOut">
              <a:rPr lang="ko-KR" altLang="en-US" smtClean="0"/>
              <a:t>2019-01-17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167FC87-C759-4CDB-B29C-BE4C3A3585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A8E261B-CCE9-4FE5-93F1-18ED2E53A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A47DD-C88A-4647-B01F-D68BE85FAF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5904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3A21CF-50BB-422D-A10C-390ED81A85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FB821CB-2C17-4A86-BE01-5AF9476BF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A7EE99E-FD69-4A7B-AFD5-BFD960AA21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1A6D822-6B5E-4FC2-AAA5-C7AA1F09F3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B69C2A-3C3E-4C57-BDC4-44500BFC523E}" type="datetimeFigureOut">
              <a:rPr lang="ko-KR" altLang="en-US" smtClean="0"/>
              <a:t>2019-01-17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376ED2B-0EB9-4F75-860F-8F338FD915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B1DA828-645C-4BA1-9DFD-44C5FC2D59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A47DD-C88A-4647-B01F-D68BE85FAF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93983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54A322-EB5C-4DC0-991E-4C50084DCF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34DFC89-470A-4FC8-B12C-123AC9CD85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3867174-F25E-40D3-9D4F-26DBA45D35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84F9C35-CEF9-4DC2-9B77-67E66166678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13A8736-5248-4425-9DA0-D2488A9641D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9345B17-7D3B-4794-A5A9-3516B1AAA1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B69C2A-3C3E-4C57-BDC4-44500BFC523E}" type="datetimeFigureOut">
              <a:rPr lang="ko-KR" altLang="en-US" smtClean="0"/>
              <a:t>2019-01-17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CB05FE9-6DE7-4314-8BEB-16FCC414D3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C7577281-B107-4365-B147-92B3C43B47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A47DD-C88A-4647-B01F-D68BE85FAF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20035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5AFF661-95C6-4AB5-94A5-5E6F004B9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D4D3ABB-A74A-4081-8347-B78AEF693C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B69C2A-3C3E-4C57-BDC4-44500BFC523E}" type="datetimeFigureOut">
              <a:rPr lang="ko-KR" altLang="en-US" smtClean="0"/>
              <a:t>2019-01-17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0BBF748-037B-4A45-B730-8B75884B6C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D10E33C-A14C-43D9-9BCD-F51FFEE428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A47DD-C88A-4647-B01F-D68BE85FAF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25411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32FE37A-1AA4-4876-9A4C-4016DAAE30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B69C2A-3C3E-4C57-BDC4-44500BFC523E}" type="datetimeFigureOut">
              <a:rPr lang="ko-KR" altLang="en-US" smtClean="0"/>
              <a:t>2019-01-17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253921E-D341-48BD-945F-4038459CF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D4D072C-AEE0-470E-A1BA-9B2C61EEC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A47DD-C88A-4647-B01F-D68BE85FAF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65505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3CBB08-0743-4A0E-8D59-5FE9EFAA27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DE1E9D5-56F2-45C4-B42B-CDBD1A2254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FAD2967-ADCB-48EB-A572-6826D98B45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C13D8BE-B827-4585-BEED-4FA06404AF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B69C2A-3C3E-4C57-BDC4-44500BFC523E}" type="datetimeFigureOut">
              <a:rPr lang="ko-KR" altLang="en-US" smtClean="0"/>
              <a:t>2019-01-17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1BFE66B-2AEA-41CC-BC9B-9CA0A95E3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0EB651C-8955-4476-9545-FA2E035500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A47DD-C88A-4647-B01F-D68BE85FAF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73874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E9F2C8-0FFB-4081-8C59-2D2A5E5BC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5ECFE0DA-901A-4A7A-8938-C183B5C26D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97898E1-F9A4-4A70-90BA-D76F7F1D95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7F163FB-2872-4AD2-B934-09C98FCD4F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B69C2A-3C3E-4C57-BDC4-44500BFC523E}" type="datetimeFigureOut">
              <a:rPr lang="ko-KR" altLang="en-US" smtClean="0"/>
              <a:t>2019-01-17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A64883B-7EC5-4B93-82BD-D06B7FB1D1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62CBC12-56E6-4728-8E00-6AF05071F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A47DD-C88A-4647-B01F-D68BE85FAF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04101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EB839C-F4A2-40CD-A93B-959F8C417C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5D11A74-100D-4F15-98D0-DC2B6961B4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B0A5194-8D60-44A3-987F-66F38A0F83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B69C2A-3C3E-4C57-BDC4-44500BFC523E}" type="datetimeFigureOut">
              <a:rPr lang="ko-KR" altLang="en-US" smtClean="0"/>
              <a:t>2019-01-17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6913142-BAE9-4E38-96B0-856E49E59A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E090174-5542-4952-97DF-840CCE10EF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A47DD-C88A-4647-B01F-D68BE85FAF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37657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8B3C6DF-C4C3-4768-99E9-13ED3DD6DC0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03BC701-F5F0-4F47-92E4-1C83529956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BDB019F-4215-468C-961E-2C00493D6E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B69C2A-3C3E-4C57-BDC4-44500BFC523E}" type="datetimeFigureOut">
              <a:rPr lang="ko-KR" altLang="en-US" smtClean="0"/>
              <a:t>2019-01-17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A7CE3EB-1331-4EF7-9D04-CC3D785445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2C5F133-8A1B-4163-8D09-BA56BDA0F6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A47DD-C88A-4647-B01F-D68BE85FAF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57991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F47F30B-0E8F-47C6-9877-DA8CC8467B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2AA2AF4-EBD9-47D6-A2AA-491E36BBF9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F229537-C2D3-40D0-8599-C38F3E05AA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B69C2A-3C3E-4C57-BDC4-44500BFC523E}" type="datetimeFigureOut">
              <a:rPr lang="ko-KR" altLang="en-US" smtClean="0"/>
              <a:t>2019-01-17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4BD48D4-F2B6-43B3-8CC6-DB53BFDF9A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E8A04D6-1C6A-460E-91F3-B1748280FA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FA47DD-C88A-4647-B01F-D68BE85FAF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85995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cacti.net/templates" TargetMode="Externa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8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2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98632CB8-5776-4DFF-8A91-4E200F9E9E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7715" y="1807854"/>
            <a:ext cx="3804539" cy="184308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DE60873-BF7E-462D-8F40-80925402E819}"/>
              </a:ext>
            </a:extLst>
          </p:cNvPr>
          <p:cNvSpPr txBox="1"/>
          <p:nvPr/>
        </p:nvSpPr>
        <p:spPr>
          <a:xfrm>
            <a:off x="10884023" y="6161104"/>
            <a:ext cx="9499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김민식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CE5BF8C-92B0-4BE4-943B-7E7453ABA77C}"/>
              </a:ext>
            </a:extLst>
          </p:cNvPr>
          <p:cNvSpPr txBox="1"/>
          <p:nvPr/>
        </p:nvSpPr>
        <p:spPr>
          <a:xfrm>
            <a:off x="3324176" y="3977585"/>
            <a:ext cx="100761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프로젝트명 </a:t>
            </a:r>
            <a:r>
              <a:rPr lang="en-US" altLang="ko-KR"/>
              <a:t>: </a:t>
            </a:r>
            <a:r>
              <a:rPr lang="ko-KR" altLang="en-US"/>
              <a:t>프라이빗 클라우드 서비스 구축 </a:t>
            </a:r>
            <a:r>
              <a:rPr lang="en-US" altLang="ko-KR"/>
              <a:t>(</a:t>
            </a:r>
            <a:r>
              <a:rPr lang="ko-KR" altLang="en-US"/>
              <a:t>오픈스택 기반</a:t>
            </a:r>
            <a:r>
              <a:rPr lang="en-US" altLang="ko-KR"/>
              <a:t>)</a:t>
            </a:r>
          </a:p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44451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A941FA7B-C5B7-41E1-8DF5-1F89BB7A28EC}"/>
              </a:ext>
            </a:extLst>
          </p:cNvPr>
          <p:cNvSpPr txBox="1"/>
          <p:nvPr/>
        </p:nvSpPr>
        <p:spPr>
          <a:xfrm>
            <a:off x="332509" y="230909"/>
            <a:ext cx="43872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&lt;Today&gt;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A368E51-74DC-4ED1-BB4A-A4F6734105B4}"/>
              </a:ext>
            </a:extLst>
          </p:cNvPr>
          <p:cNvSpPr txBox="1"/>
          <p:nvPr/>
        </p:nvSpPr>
        <p:spPr>
          <a:xfrm>
            <a:off x="332509" y="816535"/>
            <a:ext cx="8295861" cy="55399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 err="1"/>
              <a:t>프로젝트명</a:t>
            </a:r>
            <a:r>
              <a:rPr lang="ko-KR" altLang="en-US" sz="1600" dirty="0"/>
              <a:t> </a:t>
            </a:r>
            <a:r>
              <a:rPr lang="en-US" altLang="ko-KR" sz="1600" dirty="0"/>
              <a:t>: </a:t>
            </a:r>
            <a:r>
              <a:rPr lang="ko-KR" altLang="en-US" sz="1600" dirty="0" err="1"/>
              <a:t>프라이빗</a:t>
            </a:r>
            <a:r>
              <a:rPr lang="ko-KR" altLang="en-US" sz="1600" dirty="0"/>
              <a:t> </a:t>
            </a:r>
            <a:r>
              <a:rPr lang="ko-KR" altLang="en-US" sz="1600" dirty="0" err="1"/>
              <a:t>클라우드</a:t>
            </a:r>
            <a:r>
              <a:rPr lang="ko-KR" altLang="en-US" sz="1600" dirty="0"/>
              <a:t> 서비스 구축 </a:t>
            </a:r>
            <a:r>
              <a:rPr lang="en-US" altLang="ko-KR" sz="1600" dirty="0"/>
              <a:t>(</a:t>
            </a:r>
            <a:r>
              <a:rPr lang="ko-KR" altLang="en-US" sz="1600" dirty="0" err="1"/>
              <a:t>오픈스택</a:t>
            </a:r>
            <a:r>
              <a:rPr lang="ko-KR" altLang="en-US" sz="1600" dirty="0"/>
              <a:t> 기반</a:t>
            </a:r>
            <a:r>
              <a:rPr lang="en-US" altLang="ko-KR" sz="1600" dirty="0"/>
              <a:t>)</a:t>
            </a:r>
          </a:p>
          <a:p>
            <a:endParaRPr lang="en-US" altLang="ko-KR" sz="1600" dirty="0"/>
          </a:p>
          <a:p>
            <a:r>
              <a:rPr lang="ko-KR" altLang="en-US" sz="1600" dirty="0"/>
              <a:t>개요</a:t>
            </a:r>
            <a:endParaRPr lang="en-US" altLang="ko-KR" sz="1600" dirty="0"/>
          </a:p>
          <a:p>
            <a:endParaRPr lang="en-US" altLang="ko-KR" sz="1600" dirty="0"/>
          </a:p>
          <a:p>
            <a:r>
              <a:rPr lang="en-US" altLang="ko-KR" sz="1400" dirty="0"/>
              <a:t>  </a:t>
            </a:r>
            <a:r>
              <a:rPr lang="ko-KR" altLang="en-US" sz="1400" dirty="0" err="1"/>
              <a:t>프라이빗</a:t>
            </a:r>
            <a:r>
              <a:rPr lang="ko-KR" altLang="en-US" sz="1400" dirty="0"/>
              <a:t> </a:t>
            </a:r>
            <a:r>
              <a:rPr lang="ko-KR" altLang="en-US" sz="1400" dirty="0" err="1"/>
              <a:t>클라우드</a:t>
            </a:r>
            <a:r>
              <a:rPr lang="ko-KR" altLang="en-US" sz="1400" dirty="0"/>
              <a:t> 솔루션인 </a:t>
            </a:r>
            <a:r>
              <a:rPr lang="ko-KR" altLang="en-US" sz="1400" dirty="0" err="1"/>
              <a:t>오픈스택을</a:t>
            </a:r>
            <a:r>
              <a:rPr lang="ko-KR" altLang="en-US" sz="1400" dirty="0"/>
              <a:t> 사용하여 소규모 </a:t>
            </a:r>
            <a:r>
              <a:rPr lang="ko-KR" altLang="en-US" sz="1400" dirty="0" err="1"/>
              <a:t>프라이빗</a:t>
            </a:r>
            <a:r>
              <a:rPr lang="ko-KR" altLang="en-US" sz="1400" dirty="0"/>
              <a:t> </a:t>
            </a:r>
            <a:r>
              <a:rPr lang="ko-KR" altLang="en-US" sz="1400" dirty="0" err="1"/>
              <a:t>클라우드</a:t>
            </a:r>
            <a:r>
              <a:rPr lang="ko-KR" altLang="en-US" sz="1400" dirty="0"/>
              <a:t> 서비스 망을 구축하고</a:t>
            </a:r>
            <a:endParaRPr lang="en-US" altLang="ko-KR" sz="1400" dirty="0"/>
          </a:p>
          <a:p>
            <a:r>
              <a:rPr lang="ko-KR" altLang="en-US" sz="1400" dirty="0"/>
              <a:t>운영할 수 있도록 함</a:t>
            </a:r>
            <a:endParaRPr lang="en-US" altLang="ko-KR" sz="1400" dirty="0"/>
          </a:p>
          <a:p>
            <a:endParaRPr lang="en-US" altLang="ko-KR" sz="1400" dirty="0"/>
          </a:p>
          <a:p>
            <a:r>
              <a:rPr lang="en-US" altLang="ko-KR" sz="1400" dirty="0"/>
              <a:t>  </a:t>
            </a:r>
            <a:r>
              <a:rPr lang="ko-KR" altLang="en-US" sz="1400" dirty="0" err="1"/>
              <a:t>오픈소스</a:t>
            </a:r>
            <a:r>
              <a:rPr lang="ko-KR" altLang="en-US" sz="1400" dirty="0"/>
              <a:t> 기반인 </a:t>
            </a:r>
            <a:r>
              <a:rPr lang="ko-KR" altLang="en-US" sz="1400" dirty="0" err="1"/>
              <a:t>오픈스택을</a:t>
            </a:r>
            <a:r>
              <a:rPr lang="ko-KR" altLang="en-US" sz="1400" dirty="0"/>
              <a:t> 사용하여 소규모 </a:t>
            </a:r>
            <a:r>
              <a:rPr lang="en-US" altLang="ko-KR" sz="1400" dirty="0"/>
              <a:t>/ </a:t>
            </a:r>
            <a:r>
              <a:rPr lang="ko-KR" altLang="en-US" sz="1400" dirty="0"/>
              <a:t>연습용 </a:t>
            </a:r>
            <a:r>
              <a:rPr lang="ko-KR" altLang="en-US" sz="1400" dirty="0" err="1"/>
              <a:t>프라이빗</a:t>
            </a:r>
            <a:r>
              <a:rPr lang="ko-KR" altLang="en-US" sz="1400" dirty="0"/>
              <a:t> </a:t>
            </a:r>
            <a:r>
              <a:rPr lang="ko-KR" altLang="en-US" sz="1400" dirty="0" err="1"/>
              <a:t>클라우드</a:t>
            </a:r>
            <a:r>
              <a:rPr lang="ko-KR" altLang="en-US" sz="1400" dirty="0"/>
              <a:t> 서비스 망을 설계하고</a:t>
            </a:r>
            <a:r>
              <a:rPr lang="en-US" altLang="ko-KR" sz="1400" dirty="0"/>
              <a:t>,</a:t>
            </a:r>
          </a:p>
          <a:p>
            <a:r>
              <a:rPr lang="ko-KR" altLang="en-US" sz="1400" dirty="0"/>
              <a:t>구축하며 운영할 수 있는 기량을 </a:t>
            </a:r>
            <a:r>
              <a:rPr lang="ko-KR" altLang="en-US" sz="1400" dirty="0" err="1"/>
              <a:t>습득하고자함</a:t>
            </a:r>
            <a:endParaRPr lang="en-US" altLang="ko-KR" sz="1400" dirty="0"/>
          </a:p>
          <a:p>
            <a:endParaRPr lang="en-US" altLang="ko-KR" sz="1400" dirty="0"/>
          </a:p>
          <a:p>
            <a:r>
              <a:rPr lang="ko-KR" altLang="en-US" sz="1600" dirty="0"/>
              <a:t>목적</a:t>
            </a:r>
            <a:endParaRPr lang="en-US" altLang="ko-KR" sz="1600" dirty="0"/>
          </a:p>
          <a:p>
            <a:endParaRPr lang="en-US" altLang="ko-KR" sz="1600" dirty="0"/>
          </a:p>
          <a:p>
            <a:r>
              <a:rPr lang="en-US" altLang="ko-KR" sz="1400" dirty="0"/>
              <a:t>  - </a:t>
            </a:r>
            <a:r>
              <a:rPr lang="ko-KR" altLang="en-US" sz="1400" dirty="0" err="1"/>
              <a:t>오픈스택</a:t>
            </a:r>
            <a:r>
              <a:rPr lang="ko-KR" altLang="en-US" sz="1400" dirty="0"/>
              <a:t> 기반의 </a:t>
            </a:r>
            <a:r>
              <a:rPr lang="ko-KR" altLang="en-US" sz="1400" dirty="0" err="1"/>
              <a:t>프라이빗</a:t>
            </a:r>
            <a:r>
              <a:rPr lang="ko-KR" altLang="en-US" sz="1400" dirty="0"/>
              <a:t> </a:t>
            </a:r>
            <a:r>
              <a:rPr lang="ko-KR" altLang="en-US" sz="1400" dirty="0" err="1"/>
              <a:t>클라우드</a:t>
            </a:r>
            <a:r>
              <a:rPr lang="ko-KR" altLang="en-US" sz="1400" dirty="0"/>
              <a:t> 서비스 망 설계 </a:t>
            </a:r>
            <a:endParaRPr lang="en-US" altLang="ko-KR" sz="1400" dirty="0"/>
          </a:p>
          <a:p>
            <a:r>
              <a:rPr lang="en-US" altLang="ko-KR" sz="1400" dirty="0"/>
              <a:t>  - </a:t>
            </a:r>
            <a:r>
              <a:rPr lang="ko-KR" altLang="en-US" sz="1400" dirty="0" err="1"/>
              <a:t>오픈스택</a:t>
            </a:r>
            <a:r>
              <a:rPr lang="ko-KR" altLang="en-US" sz="1400" dirty="0"/>
              <a:t> 기반의 </a:t>
            </a:r>
            <a:r>
              <a:rPr lang="ko-KR" altLang="en-US" sz="1400" dirty="0" err="1"/>
              <a:t>프라이빗</a:t>
            </a:r>
            <a:r>
              <a:rPr lang="ko-KR" altLang="en-US" sz="1400" dirty="0"/>
              <a:t> </a:t>
            </a:r>
            <a:r>
              <a:rPr lang="ko-KR" altLang="en-US" sz="1400" dirty="0" err="1"/>
              <a:t>클라우드</a:t>
            </a:r>
            <a:r>
              <a:rPr lang="ko-KR" altLang="en-US" sz="1400" dirty="0"/>
              <a:t> 서비스 망 구축</a:t>
            </a:r>
            <a:endParaRPr lang="en-US" altLang="ko-KR" sz="1400" dirty="0"/>
          </a:p>
          <a:p>
            <a:r>
              <a:rPr lang="en-US" altLang="ko-KR" sz="1400" dirty="0"/>
              <a:t>  - </a:t>
            </a:r>
            <a:r>
              <a:rPr lang="ko-KR" altLang="en-US" sz="1400" dirty="0" err="1"/>
              <a:t>프라이빗</a:t>
            </a:r>
            <a:r>
              <a:rPr lang="ko-KR" altLang="en-US" sz="1400" dirty="0"/>
              <a:t> </a:t>
            </a:r>
            <a:r>
              <a:rPr lang="ko-KR" altLang="en-US" sz="1400" dirty="0" err="1"/>
              <a:t>클라우드</a:t>
            </a:r>
            <a:r>
              <a:rPr lang="ko-KR" altLang="en-US" sz="1400" dirty="0"/>
              <a:t> 서비스 운영 시스템 구축 </a:t>
            </a:r>
            <a:r>
              <a:rPr lang="en-US" altLang="ko-KR" sz="1400" dirty="0"/>
              <a:t>(NMS/SMS </a:t>
            </a:r>
            <a:r>
              <a:rPr lang="ko-KR" altLang="en-US" sz="1400" dirty="0"/>
              <a:t>시스템 포함</a:t>
            </a:r>
            <a:r>
              <a:rPr lang="en-US" altLang="ko-KR" sz="1400" dirty="0"/>
              <a:t>)</a:t>
            </a:r>
          </a:p>
          <a:p>
            <a:endParaRPr lang="en-US" altLang="ko-KR" sz="1400" dirty="0"/>
          </a:p>
          <a:p>
            <a:r>
              <a:rPr lang="ko-KR" altLang="en-US" sz="1600" dirty="0"/>
              <a:t>구축방법</a:t>
            </a:r>
            <a:endParaRPr lang="en-US" altLang="ko-KR" sz="1600" dirty="0"/>
          </a:p>
          <a:p>
            <a:endParaRPr lang="en-US" altLang="ko-KR" sz="1600" dirty="0"/>
          </a:p>
          <a:p>
            <a:r>
              <a:rPr lang="en-US" altLang="ko-KR" sz="1400" dirty="0"/>
              <a:t>  - 1</a:t>
            </a:r>
            <a:r>
              <a:rPr lang="ko-KR" altLang="en-US" sz="1400" dirty="0"/>
              <a:t>단계 </a:t>
            </a:r>
            <a:r>
              <a:rPr lang="en-US" altLang="ko-KR" sz="1400" dirty="0"/>
              <a:t>: </a:t>
            </a:r>
            <a:r>
              <a:rPr lang="ko-KR" altLang="en-US" sz="1400" dirty="0"/>
              <a:t>물리적 네트워크 망을 설계 및 구축 함</a:t>
            </a:r>
            <a:endParaRPr lang="en-US" altLang="ko-KR" sz="1400" dirty="0"/>
          </a:p>
          <a:p>
            <a:r>
              <a:rPr lang="en-US" altLang="ko-KR" sz="1400" dirty="0"/>
              <a:t>  - 2</a:t>
            </a:r>
            <a:r>
              <a:rPr lang="ko-KR" altLang="en-US" sz="1400" dirty="0"/>
              <a:t>단계 </a:t>
            </a:r>
            <a:r>
              <a:rPr lang="en-US" altLang="ko-KR" sz="1400" dirty="0"/>
              <a:t>: </a:t>
            </a:r>
            <a:r>
              <a:rPr lang="ko-KR" altLang="en-US" sz="1400" dirty="0" err="1"/>
              <a:t>오픈스택</a:t>
            </a:r>
            <a:r>
              <a:rPr lang="ko-KR" altLang="en-US" sz="1400" dirty="0"/>
              <a:t> 구축 </a:t>
            </a:r>
            <a:r>
              <a:rPr lang="en-US" altLang="ko-KR" sz="1400" dirty="0"/>
              <a:t>(</a:t>
            </a:r>
            <a:r>
              <a:rPr lang="ko-KR" altLang="en-US" sz="1400" dirty="0" err="1"/>
              <a:t>멀티노드</a:t>
            </a:r>
            <a:r>
              <a:rPr lang="en-US" altLang="ko-KR" sz="1400" dirty="0"/>
              <a:t>)</a:t>
            </a:r>
          </a:p>
          <a:p>
            <a:r>
              <a:rPr lang="en-US" altLang="ko-KR" sz="1400" dirty="0"/>
              <a:t>  - 3</a:t>
            </a:r>
            <a:r>
              <a:rPr lang="ko-KR" altLang="en-US" sz="1400" dirty="0"/>
              <a:t>단계 </a:t>
            </a:r>
            <a:r>
              <a:rPr lang="en-US" altLang="ko-KR" sz="1400" dirty="0"/>
              <a:t>: </a:t>
            </a:r>
            <a:r>
              <a:rPr lang="ko-KR" altLang="en-US" sz="1400" dirty="0" err="1"/>
              <a:t>오픈스택</a:t>
            </a:r>
            <a:r>
              <a:rPr lang="ko-KR" altLang="en-US" sz="1400" dirty="0"/>
              <a:t> 기반이 </a:t>
            </a:r>
            <a:r>
              <a:rPr lang="ko-KR" altLang="en-US" sz="1400" dirty="0" err="1"/>
              <a:t>프라이빗</a:t>
            </a:r>
            <a:r>
              <a:rPr lang="ko-KR" altLang="en-US" sz="1400" dirty="0"/>
              <a:t> </a:t>
            </a:r>
            <a:r>
              <a:rPr lang="ko-KR" altLang="en-US" sz="1400" dirty="0" err="1"/>
              <a:t>클라우드</a:t>
            </a:r>
            <a:r>
              <a:rPr lang="ko-KR" altLang="en-US" sz="1400" dirty="0"/>
              <a:t> 서비스 망 구축 </a:t>
            </a:r>
            <a:endParaRPr lang="en-US" altLang="ko-KR" sz="1400" dirty="0"/>
          </a:p>
          <a:p>
            <a:r>
              <a:rPr lang="en-US" altLang="ko-KR" sz="1400" dirty="0"/>
              <a:t>  - 4</a:t>
            </a:r>
            <a:r>
              <a:rPr lang="ko-KR" altLang="en-US" sz="1400" dirty="0"/>
              <a:t>단계 </a:t>
            </a:r>
            <a:r>
              <a:rPr lang="en-US" altLang="ko-KR" sz="1400" dirty="0"/>
              <a:t>: CACTI </a:t>
            </a:r>
            <a:r>
              <a:rPr lang="ko-KR" altLang="en-US" sz="1400" dirty="0"/>
              <a:t>기반의 </a:t>
            </a:r>
            <a:r>
              <a:rPr lang="ko-KR" altLang="en-US" sz="1400" dirty="0" err="1"/>
              <a:t>프라이빗</a:t>
            </a:r>
            <a:r>
              <a:rPr lang="ko-KR" altLang="en-US" sz="1400" dirty="0"/>
              <a:t> 클라우드 서비스 운영체제 구축 </a:t>
            </a:r>
            <a:r>
              <a:rPr lang="en-US" altLang="ko-KR" sz="1400" dirty="0"/>
              <a:t>(</a:t>
            </a:r>
            <a:r>
              <a:rPr lang="en-US" altLang="ko-KR" sz="1400" dirty="0" err="1"/>
              <a:t>snmp</a:t>
            </a:r>
            <a:r>
              <a:rPr lang="en-US" altLang="ko-KR" sz="1400" dirty="0"/>
              <a:t> - JFFNMS)</a:t>
            </a:r>
          </a:p>
          <a:p>
            <a:endParaRPr lang="en-US" altLang="ko-KR" sz="1400" dirty="0"/>
          </a:p>
          <a:p>
            <a:r>
              <a:rPr lang="ko-KR" altLang="en-US" sz="1600" dirty="0"/>
              <a:t>상세설명</a:t>
            </a:r>
            <a:endParaRPr lang="en-US" altLang="ko-KR" sz="1600" dirty="0"/>
          </a:p>
        </p:txBody>
      </p:sp>
    </p:spTree>
    <p:extLst>
      <p:ext uri="{BB962C8B-B14F-4D97-AF65-F5344CB8AC3E}">
        <p14:creationId xmlns:p14="http://schemas.microsoft.com/office/powerpoint/2010/main" val="8032099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직사각형 27">
            <a:extLst>
              <a:ext uri="{FF2B5EF4-FFF2-40B4-BE49-F238E27FC236}">
                <a16:creationId xmlns:a16="http://schemas.microsoft.com/office/drawing/2014/main" id="{A82C0183-67B1-4F6A-98FF-BE37683D7117}"/>
              </a:ext>
            </a:extLst>
          </p:cNvPr>
          <p:cNvSpPr/>
          <p:nvPr/>
        </p:nvSpPr>
        <p:spPr>
          <a:xfrm>
            <a:off x="10021923" y="1265046"/>
            <a:ext cx="1309501" cy="59019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solidFill>
                  <a:schemeClr val="tx1"/>
                </a:solidFill>
              </a:rPr>
              <a:t>Bridge</a:t>
            </a:r>
          </a:p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(VMnet0 = S/W</a:t>
            </a:r>
            <a:r>
              <a:rPr lang="en-US" altLang="ko-KR" sz="1050" dirty="0">
                <a:solidFill>
                  <a:schemeClr val="tx1"/>
                </a:solidFill>
              </a:rPr>
              <a:t>)</a:t>
            </a:r>
            <a:endParaRPr lang="ko-KR" altLang="en-US" sz="1050" dirty="0">
              <a:solidFill>
                <a:schemeClr val="tx1"/>
              </a:solidFill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F4EDBDF9-97F5-464B-B642-0B00C46E5BF8}"/>
              </a:ext>
            </a:extLst>
          </p:cNvPr>
          <p:cNvSpPr/>
          <p:nvPr/>
        </p:nvSpPr>
        <p:spPr>
          <a:xfrm>
            <a:off x="10021923" y="1943315"/>
            <a:ext cx="1309501" cy="59019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Bridge</a:t>
            </a:r>
          </a:p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(VMnet2 = </a:t>
            </a:r>
            <a:r>
              <a:rPr lang="en-US" altLang="ko-KR" sz="1200" dirty="0" err="1">
                <a:solidFill>
                  <a:schemeClr val="tx1"/>
                </a:solidFill>
              </a:rPr>
              <a:t>WiFi</a:t>
            </a:r>
            <a:r>
              <a:rPr lang="en-US" altLang="ko-KR" sz="1200" dirty="0">
                <a:solidFill>
                  <a:schemeClr val="tx1"/>
                </a:solidFill>
              </a:rPr>
              <a:t>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75EA73FD-1225-4BCC-990C-F4FB24C11D4B}"/>
              </a:ext>
            </a:extLst>
          </p:cNvPr>
          <p:cNvGrpSpPr/>
          <p:nvPr/>
        </p:nvGrpSpPr>
        <p:grpSpPr>
          <a:xfrm>
            <a:off x="271605" y="2376890"/>
            <a:ext cx="3105567" cy="4440115"/>
            <a:chOff x="156195" y="1790964"/>
            <a:chExt cx="3105567" cy="4440115"/>
          </a:xfrm>
        </p:grpSpPr>
        <p:grpSp>
          <p:nvGrpSpPr>
            <p:cNvPr id="19" name="그룹 18">
              <a:extLst>
                <a:ext uri="{FF2B5EF4-FFF2-40B4-BE49-F238E27FC236}">
                  <a16:creationId xmlns:a16="http://schemas.microsoft.com/office/drawing/2014/main" id="{4508BFEF-F45C-4373-8CC1-A4D3B9B68C62}"/>
                </a:ext>
              </a:extLst>
            </p:cNvPr>
            <p:cNvGrpSpPr/>
            <p:nvPr/>
          </p:nvGrpSpPr>
          <p:grpSpPr>
            <a:xfrm>
              <a:off x="273591" y="2454679"/>
              <a:ext cx="2915831" cy="3206376"/>
              <a:chOff x="789645" y="2493088"/>
              <a:chExt cx="3338471" cy="3671130"/>
            </a:xfrm>
          </p:grpSpPr>
          <p:sp>
            <p:nvSpPr>
              <p:cNvPr id="20" name="직사각형 19">
                <a:extLst>
                  <a:ext uri="{FF2B5EF4-FFF2-40B4-BE49-F238E27FC236}">
                    <a16:creationId xmlns:a16="http://schemas.microsoft.com/office/drawing/2014/main" id="{FED59902-8047-4C7C-8B05-036161052716}"/>
                  </a:ext>
                </a:extLst>
              </p:cNvPr>
              <p:cNvSpPr/>
              <p:nvPr/>
            </p:nvSpPr>
            <p:spPr>
              <a:xfrm>
                <a:off x="789645" y="2725445"/>
                <a:ext cx="3338471" cy="3438773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" name="직사각형 20">
                <a:extLst>
                  <a:ext uri="{FF2B5EF4-FFF2-40B4-BE49-F238E27FC236}">
                    <a16:creationId xmlns:a16="http://schemas.microsoft.com/office/drawing/2014/main" id="{9FC0A544-80EF-439B-AA5A-9C83D17ECDCE}"/>
                  </a:ext>
                </a:extLst>
              </p:cNvPr>
              <p:cNvSpPr/>
              <p:nvPr/>
            </p:nvSpPr>
            <p:spPr>
              <a:xfrm>
                <a:off x="1305368" y="2493088"/>
                <a:ext cx="914400" cy="464714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>
                    <a:solidFill>
                      <a:sysClr val="windowText" lastClr="000000"/>
                    </a:solidFill>
                  </a:rPr>
                  <a:t>ens33</a:t>
                </a:r>
                <a:endParaRPr lang="ko-KR" altLang="en-US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2" name="직사각형 21">
                <a:extLst>
                  <a:ext uri="{FF2B5EF4-FFF2-40B4-BE49-F238E27FC236}">
                    <a16:creationId xmlns:a16="http://schemas.microsoft.com/office/drawing/2014/main" id="{1411DF86-CE24-4D64-89F4-39875782F440}"/>
                  </a:ext>
                </a:extLst>
              </p:cNvPr>
              <p:cNvSpPr/>
              <p:nvPr/>
            </p:nvSpPr>
            <p:spPr>
              <a:xfrm>
                <a:off x="2735490" y="2493088"/>
                <a:ext cx="914400" cy="464714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>
                    <a:solidFill>
                      <a:sysClr val="windowText" lastClr="000000"/>
                    </a:solidFill>
                  </a:rPr>
                  <a:t>ens34</a:t>
                </a:r>
                <a:endParaRPr lang="ko-KR" altLang="en-US" dirty="0">
                  <a:solidFill>
                    <a:sysClr val="windowText" lastClr="000000"/>
                  </a:solidFill>
                </a:endParaRPr>
              </a:p>
            </p:txBody>
          </p:sp>
        </p:grp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D294E3D2-4ECD-4E4A-BAF0-29F972D82B59}"/>
                </a:ext>
              </a:extLst>
            </p:cNvPr>
            <p:cNvSpPr txBox="1"/>
            <p:nvPr/>
          </p:nvSpPr>
          <p:spPr>
            <a:xfrm>
              <a:off x="577409" y="3697672"/>
              <a:ext cx="2308194" cy="923330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dirty="0"/>
                <a:t>&lt;Controller Node&gt;</a:t>
              </a:r>
            </a:p>
            <a:p>
              <a:pPr algn="ctr"/>
              <a:r>
                <a:rPr lang="en-US" altLang="ko-KR" dirty="0"/>
                <a:t>Controller01</a:t>
              </a:r>
            </a:p>
            <a:p>
              <a:pPr algn="ctr"/>
              <a:r>
                <a:rPr lang="en-US" altLang="ko-KR" dirty="0"/>
                <a:t>(CentOS 7)</a:t>
              </a:r>
              <a:endParaRPr lang="ko-KR" altLang="en-US" dirty="0"/>
            </a:p>
          </p:txBody>
        </p:sp>
        <p:sp>
          <p:nvSpPr>
            <p:cNvPr id="30" name="사각형: 둥근 모서리 29">
              <a:extLst>
                <a:ext uri="{FF2B5EF4-FFF2-40B4-BE49-F238E27FC236}">
                  <a16:creationId xmlns:a16="http://schemas.microsoft.com/office/drawing/2014/main" id="{0FBCB595-969E-4C02-B27B-FE0603E1A53F}"/>
                </a:ext>
              </a:extLst>
            </p:cNvPr>
            <p:cNvSpPr/>
            <p:nvPr/>
          </p:nvSpPr>
          <p:spPr>
            <a:xfrm>
              <a:off x="156195" y="1790964"/>
              <a:ext cx="3105567" cy="4440115"/>
            </a:xfrm>
            <a:prstGeom prst="roundRect">
              <a:avLst/>
            </a:prstGeom>
            <a:noFill/>
            <a:ln w="38100">
              <a:solidFill>
                <a:srgbClr val="4472C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ABAAFD0A-CF85-499E-A408-AC1EF2F63BDF}"/>
                </a:ext>
              </a:extLst>
            </p:cNvPr>
            <p:cNvSpPr txBox="1"/>
            <p:nvPr/>
          </p:nvSpPr>
          <p:spPr>
            <a:xfrm>
              <a:off x="381886" y="5723119"/>
              <a:ext cx="2699239" cy="369332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dirty="0">
                  <a:solidFill>
                    <a:srgbClr val="4472C4"/>
                  </a:solidFill>
                </a:rPr>
                <a:t>VM Ware Workstation</a:t>
              </a:r>
              <a:endParaRPr lang="ko-KR" altLang="en-US" dirty="0">
                <a:solidFill>
                  <a:srgbClr val="4472C4"/>
                </a:solidFill>
              </a:endParaRPr>
            </a:p>
          </p:txBody>
        </p:sp>
      </p:grp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1C5814C3-6396-45C6-BC23-C5C58127DB46}"/>
              </a:ext>
            </a:extLst>
          </p:cNvPr>
          <p:cNvGrpSpPr/>
          <p:nvPr/>
        </p:nvGrpSpPr>
        <p:grpSpPr>
          <a:xfrm>
            <a:off x="3597919" y="2376890"/>
            <a:ext cx="3105567" cy="4440115"/>
            <a:chOff x="3723106" y="1829946"/>
            <a:chExt cx="3105567" cy="4440115"/>
          </a:xfrm>
        </p:grpSpPr>
        <p:grpSp>
          <p:nvGrpSpPr>
            <p:cNvPr id="15" name="그룹 14">
              <a:extLst>
                <a:ext uri="{FF2B5EF4-FFF2-40B4-BE49-F238E27FC236}">
                  <a16:creationId xmlns:a16="http://schemas.microsoft.com/office/drawing/2014/main" id="{78EE3B6E-B73C-4124-9D0E-15F90B98C48C}"/>
                </a:ext>
              </a:extLst>
            </p:cNvPr>
            <p:cNvGrpSpPr/>
            <p:nvPr/>
          </p:nvGrpSpPr>
          <p:grpSpPr>
            <a:xfrm>
              <a:off x="3824127" y="2493088"/>
              <a:ext cx="2915831" cy="3206376"/>
              <a:chOff x="789645" y="2493088"/>
              <a:chExt cx="3338471" cy="3671130"/>
            </a:xfrm>
          </p:grpSpPr>
          <p:sp>
            <p:nvSpPr>
              <p:cNvPr id="16" name="직사각형 15">
                <a:extLst>
                  <a:ext uri="{FF2B5EF4-FFF2-40B4-BE49-F238E27FC236}">
                    <a16:creationId xmlns:a16="http://schemas.microsoft.com/office/drawing/2014/main" id="{BD3BD96C-935F-41CC-AD7A-02BC8565EC2B}"/>
                  </a:ext>
                </a:extLst>
              </p:cNvPr>
              <p:cNvSpPr/>
              <p:nvPr/>
            </p:nvSpPr>
            <p:spPr>
              <a:xfrm>
                <a:off x="789645" y="2725445"/>
                <a:ext cx="3338471" cy="3438773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" name="직사각형 16">
                <a:extLst>
                  <a:ext uri="{FF2B5EF4-FFF2-40B4-BE49-F238E27FC236}">
                    <a16:creationId xmlns:a16="http://schemas.microsoft.com/office/drawing/2014/main" id="{EAC47CCF-870A-4F30-9329-4403D7322A90}"/>
                  </a:ext>
                </a:extLst>
              </p:cNvPr>
              <p:cNvSpPr/>
              <p:nvPr/>
            </p:nvSpPr>
            <p:spPr>
              <a:xfrm>
                <a:off x="1305368" y="2493088"/>
                <a:ext cx="914400" cy="464714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>
                    <a:solidFill>
                      <a:sysClr val="windowText" lastClr="000000"/>
                    </a:solidFill>
                  </a:rPr>
                  <a:t>ens33</a:t>
                </a:r>
                <a:endParaRPr lang="ko-KR" altLang="en-US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18" name="직사각형 17">
                <a:extLst>
                  <a:ext uri="{FF2B5EF4-FFF2-40B4-BE49-F238E27FC236}">
                    <a16:creationId xmlns:a16="http://schemas.microsoft.com/office/drawing/2014/main" id="{397DA2C8-2A44-4F65-855A-D78CCC5621E4}"/>
                  </a:ext>
                </a:extLst>
              </p:cNvPr>
              <p:cNvSpPr/>
              <p:nvPr/>
            </p:nvSpPr>
            <p:spPr>
              <a:xfrm>
                <a:off x="2735490" y="2493088"/>
                <a:ext cx="914400" cy="464714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>
                    <a:solidFill>
                      <a:sysClr val="windowText" lastClr="000000"/>
                    </a:solidFill>
                  </a:rPr>
                  <a:t>ens34</a:t>
                </a:r>
                <a:endParaRPr lang="ko-KR" altLang="en-US" dirty="0">
                  <a:solidFill>
                    <a:sysClr val="windowText" lastClr="000000"/>
                  </a:solidFill>
                </a:endParaRPr>
              </a:p>
            </p:txBody>
          </p:sp>
        </p:grp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EA503DFA-D589-4A35-A9A9-AF9AD88E032C}"/>
                </a:ext>
              </a:extLst>
            </p:cNvPr>
            <p:cNvSpPr txBox="1"/>
            <p:nvPr/>
          </p:nvSpPr>
          <p:spPr>
            <a:xfrm>
              <a:off x="4127945" y="3736081"/>
              <a:ext cx="2308194" cy="923330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dirty="0"/>
                <a:t>&lt;Compute Node&gt;</a:t>
              </a:r>
            </a:p>
            <a:p>
              <a:pPr algn="ctr"/>
              <a:r>
                <a:rPr lang="en-US" altLang="ko-KR" dirty="0"/>
                <a:t>Conpute01</a:t>
              </a:r>
            </a:p>
            <a:p>
              <a:pPr algn="ctr"/>
              <a:r>
                <a:rPr lang="en-US" altLang="ko-KR" dirty="0"/>
                <a:t>(CentOS 7)</a:t>
              </a:r>
              <a:endParaRPr lang="ko-KR" altLang="en-US" dirty="0"/>
            </a:p>
          </p:txBody>
        </p:sp>
        <p:sp>
          <p:nvSpPr>
            <p:cNvPr id="32" name="사각형: 둥근 모서리 31">
              <a:extLst>
                <a:ext uri="{FF2B5EF4-FFF2-40B4-BE49-F238E27FC236}">
                  <a16:creationId xmlns:a16="http://schemas.microsoft.com/office/drawing/2014/main" id="{15930FDA-582C-49D5-8FD9-AD70843F8326}"/>
                </a:ext>
              </a:extLst>
            </p:cNvPr>
            <p:cNvSpPr/>
            <p:nvPr/>
          </p:nvSpPr>
          <p:spPr>
            <a:xfrm>
              <a:off x="3723106" y="1829946"/>
              <a:ext cx="3105567" cy="4440115"/>
            </a:xfrm>
            <a:prstGeom prst="roundRect">
              <a:avLst/>
            </a:prstGeom>
            <a:noFill/>
            <a:ln w="38100">
              <a:solidFill>
                <a:srgbClr val="4472C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64654EF6-5799-4C31-82BC-12862D1DA72E}"/>
                </a:ext>
              </a:extLst>
            </p:cNvPr>
            <p:cNvSpPr txBox="1"/>
            <p:nvPr/>
          </p:nvSpPr>
          <p:spPr>
            <a:xfrm>
              <a:off x="3926269" y="5723119"/>
              <a:ext cx="2699239" cy="369332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dirty="0">
                  <a:solidFill>
                    <a:srgbClr val="4472C4"/>
                  </a:solidFill>
                </a:rPr>
                <a:t>VM Ware Workstation</a:t>
              </a:r>
              <a:endParaRPr lang="ko-KR" altLang="en-US" dirty="0">
                <a:solidFill>
                  <a:srgbClr val="4472C4"/>
                </a:solidFill>
              </a:endParaRPr>
            </a:p>
          </p:txBody>
        </p:sp>
      </p:grp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ED4D50B6-917D-4D90-B72C-578777ADD52D}"/>
              </a:ext>
            </a:extLst>
          </p:cNvPr>
          <p:cNvGrpSpPr/>
          <p:nvPr/>
        </p:nvGrpSpPr>
        <p:grpSpPr>
          <a:xfrm>
            <a:off x="6918589" y="2376889"/>
            <a:ext cx="3180375" cy="4440115"/>
            <a:chOff x="7176963" y="1829946"/>
            <a:chExt cx="3180375" cy="4440115"/>
          </a:xfrm>
        </p:grpSpPr>
        <p:grpSp>
          <p:nvGrpSpPr>
            <p:cNvPr id="14" name="그룹 13">
              <a:extLst>
                <a:ext uri="{FF2B5EF4-FFF2-40B4-BE49-F238E27FC236}">
                  <a16:creationId xmlns:a16="http://schemas.microsoft.com/office/drawing/2014/main" id="{FE0A6E70-A2A9-494A-8605-D95543F662A8}"/>
                </a:ext>
              </a:extLst>
            </p:cNvPr>
            <p:cNvGrpSpPr/>
            <p:nvPr/>
          </p:nvGrpSpPr>
          <p:grpSpPr>
            <a:xfrm>
              <a:off x="7303766" y="2521090"/>
              <a:ext cx="2915831" cy="3206376"/>
              <a:chOff x="789645" y="2493088"/>
              <a:chExt cx="3338471" cy="3671130"/>
            </a:xfrm>
          </p:grpSpPr>
          <p:sp>
            <p:nvSpPr>
              <p:cNvPr id="5" name="직사각형 4">
                <a:extLst>
                  <a:ext uri="{FF2B5EF4-FFF2-40B4-BE49-F238E27FC236}">
                    <a16:creationId xmlns:a16="http://schemas.microsoft.com/office/drawing/2014/main" id="{BAC16434-1B40-4BEF-B1FF-CA7CE71445CF}"/>
                  </a:ext>
                </a:extLst>
              </p:cNvPr>
              <p:cNvSpPr/>
              <p:nvPr/>
            </p:nvSpPr>
            <p:spPr>
              <a:xfrm>
                <a:off x="789645" y="2725445"/>
                <a:ext cx="3338471" cy="3438773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" name="직사각형 5">
                <a:extLst>
                  <a:ext uri="{FF2B5EF4-FFF2-40B4-BE49-F238E27FC236}">
                    <a16:creationId xmlns:a16="http://schemas.microsoft.com/office/drawing/2014/main" id="{32C60AB6-0554-44B3-AB98-8BAC8EEC543E}"/>
                  </a:ext>
                </a:extLst>
              </p:cNvPr>
              <p:cNvSpPr/>
              <p:nvPr/>
            </p:nvSpPr>
            <p:spPr>
              <a:xfrm>
                <a:off x="1305368" y="2493088"/>
                <a:ext cx="914400" cy="464714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>
                    <a:solidFill>
                      <a:sysClr val="windowText" lastClr="000000"/>
                    </a:solidFill>
                  </a:rPr>
                  <a:t>ens33</a:t>
                </a:r>
                <a:endParaRPr lang="ko-KR" altLang="en-US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7" name="직사각형 6">
                <a:extLst>
                  <a:ext uri="{FF2B5EF4-FFF2-40B4-BE49-F238E27FC236}">
                    <a16:creationId xmlns:a16="http://schemas.microsoft.com/office/drawing/2014/main" id="{E3BA92F2-5D9C-4D5D-8C57-4D1C3F467E6F}"/>
                  </a:ext>
                </a:extLst>
              </p:cNvPr>
              <p:cNvSpPr/>
              <p:nvPr/>
            </p:nvSpPr>
            <p:spPr>
              <a:xfrm>
                <a:off x="2735490" y="2493088"/>
                <a:ext cx="914400" cy="464714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>
                    <a:solidFill>
                      <a:sysClr val="windowText" lastClr="000000"/>
                    </a:solidFill>
                  </a:rPr>
                  <a:t>ens34</a:t>
                </a:r>
                <a:endParaRPr lang="ko-KR" altLang="en-US" dirty="0">
                  <a:solidFill>
                    <a:sysClr val="windowText" lastClr="000000"/>
                  </a:solidFill>
                </a:endParaRPr>
              </a:p>
            </p:txBody>
          </p:sp>
        </p:grp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A3E1A681-2187-4B72-B8A8-549D8BD3EC3A}"/>
                </a:ext>
              </a:extLst>
            </p:cNvPr>
            <p:cNvSpPr txBox="1"/>
            <p:nvPr/>
          </p:nvSpPr>
          <p:spPr>
            <a:xfrm>
              <a:off x="7607584" y="3764083"/>
              <a:ext cx="2308194" cy="923330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dirty="0"/>
                <a:t>&lt;Compute Node&gt;</a:t>
              </a:r>
            </a:p>
            <a:p>
              <a:pPr algn="ctr"/>
              <a:r>
                <a:rPr lang="en-US" altLang="ko-KR" dirty="0"/>
                <a:t>Compute02</a:t>
              </a:r>
            </a:p>
            <a:p>
              <a:pPr algn="ctr"/>
              <a:r>
                <a:rPr lang="en-US" altLang="ko-KR" dirty="0"/>
                <a:t>(CentOS 7)</a:t>
              </a:r>
              <a:endParaRPr lang="ko-KR" altLang="en-US" dirty="0"/>
            </a:p>
          </p:txBody>
        </p:sp>
        <p:sp>
          <p:nvSpPr>
            <p:cNvPr id="34" name="사각형: 둥근 모서리 33">
              <a:extLst>
                <a:ext uri="{FF2B5EF4-FFF2-40B4-BE49-F238E27FC236}">
                  <a16:creationId xmlns:a16="http://schemas.microsoft.com/office/drawing/2014/main" id="{5CBBF2EA-CE75-4AA3-A720-1398EB3D7F4B}"/>
                </a:ext>
              </a:extLst>
            </p:cNvPr>
            <p:cNvSpPr/>
            <p:nvPr/>
          </p:nvSpPr>
          <p:spPr>
            <a:xfrm>
              <a:off x="7176963" y="1829946"/>
              <a:ext cx="3180375" cy="4440115"/>
            </a:xfrm>
            <a:prstGeom prst="roundRect">
              <a:avLst/>
            </a:prstGeom>
            <a:noFill/>
            <a:ln w="38100">
              <a:solidFill>
                <a:srgbClr val="4472C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1DBDAFEB-1A70-4A4B-801B-F7752987B37B}"/>
                </a:ext>
              </a:extLst>
            </p:cNvPr>
            <p:cNvSpPr txBox="1"/>
            <p:nvPr/>
          </p:nvSpPr>
          <p:spPr>
            <a:xfrm>
              <a:off x="7397710" y="5731911"/>
              <a:ext cx="2699239" cy="369332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dirty="0">
                  <a:solidFill>
                    <a:srgbClr val="4472C4"/>
                  </a:solidFill>
                </a:rPr>
                <a:t>VM Ware Workstation</a:t>
              </a:r>
              <a:endParaRPr lang="ko-KR" altLang="en-US" dirty="0">
                <a:solidFill>
                  <a:srgbClr val="4472C4"/>
                </a:solidFill>
              </a:endParaRPr>
            </a:p>
          </p:txBody>
        </p:sp>
      </p:grpSp>
      <p:sp>
        <p:nvSpPr>
          <p:cNvPr id="39" name="구름 38">
            <a:extLst>
              <a:ext uri="{FF2B5EF4-FFF2-40B4-BE49-F238E27FC236}">
                <a16:creationId xmlns:a16="http://schemas.microsoft.com/office/drawing/2014/main" id="{2E530E8D-9A0B-4CBC-B3E8-ADD851051444}"/>
              </a:ext>
            </a:extLst>
          </p:cNvPr>
          <p:cNvSpPr/>
          <p:nvPr/>
        </p:nvSpPr>
        <p:spPr>
          <a:xfrm>
            <a:off x="9353240" y="79002"/>
            <a:ext cx="1491448" cy="1047565"/>
          </a:xfrm>
          <a:prstGeom prst="cloud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tx1"/>
                </a:solidFill>
              </a:rPr>
              <a:t>Internet</a:t>
            </a:r>
            <a:endParaRPr lang="ko-KR" altLang="en-US" sz="1600" dirty="0">
              <a:solidFill>
                <a:schemeClr val="tx1"/>
              </a:solidFill>
            </a:endParaRPr>
          </a:p>
        </p:txBody>
      </p:sp>
      <p:cxnSp>
        <p:nvCxnSpPr>
          <p:cNvPr id="41" name="연결선: 꺾임 40">
            <a:extLst>
              <a:ext uri="{FF2B5EF4-FFF2-40B4-BE49-F238E27FC236}">
                <a16:creationId xmlns:a16="http://schemas.microsoft.com/office/drawing/2014/main" id="{67E37F6E-3EFC-48E7-B7C4-684E324A5207}"/>
              </a:ext>
            </a:extLst>
          </p:cNvPr>
          <p:cNvCxnSpPr>
            <a:cxnSpLocks/>
            <a:stCxn id="28" idx="3"/>
            <a:endCxn id="39" idx="0"/>
          </p:cNvCxnSpPr>
          <p:nvPr/>
        </p:nvCxnSpPr>
        <p:spPr>
          <a:xfrm flipH="1" flipV="1">
            <a:off x="10843445" y="602785"/>
            <a:ext cx="487979" cy="957356"/>
          </a:xfrm>
          <a:prstGeom prst="bentConnector3">
            <a:avLst>
              <a:gd name="adj1" fmla="val -46846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연결선: 꺾임 46">
            <a:extLst>
              <a:ext uri="{FF2B5EF4-FFF2-40B4-BE49-F238E27FC236}">
                <a16:creationId xmlns:a16="http://schemas.microsoft.com/office/drawing/2014/main" id="{79CF1AF3-7A9A-4640-81AB-7851A23A616D}"/>
              </a:ext>
            </a:extLst>
          </p:cNvPr>
          <p:cNvCxnSpPr>
            <a:cxnSpLocks/>
            <a:stCxn id="21" idx="0"/>
            <a:endCxn id="28" idx="1"/>
          </p:cNvCxnSpPr>
          <p:nvPr/>
        </p:nvCxnSpPr>
        <p:spPr>
          <a:xfrm rot="5400000" flipH="1" flipV="1">
            <a:off x="4890107" y="-2091211"/>
            <a:ext cx="1480464" cy="8783168"/>
          </a:xfrm>
          <a:prstGeom prst="bentConnector2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직선 연결선 49">
            <a:extLst>
              <a:ext uri="{FF2B5EF4-FFF2-40B4-BE49-F238E27FC236}">
                <a16:creationId xmlns:a16="http://schemas.microsoft.com/office/drawing/2014/main" id="{30BC8ECB-421B-4D64-A3A8-434544E4ED42}"/>
              </a:ext>
            </a:extLst>
          </p:cNvPr>
          <p:cNvCxnSpPr>
            <a:cxnSpLocks/>
            <a:stCxn id="17" idx="0"/>
          </p:cNvCxnSpPr>
          <p:nvPr/>
        </p:nvCxnSpPr>
        <p:spPr>
          <a:xfrm flipH="1" flipV="1">
            <a:off x="4546903" y="1560140"/>
            <a:ext cx="1791" cy="1479892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직선 연결선 51">
            <a:extLst>
              <a:ext uri="{FF2B5EF4-FFF2-40B4-BE49-F238E27FC236}">
                <a16:creationId xmlns:a16="http://schemas.microsoft.com/office/drawing/2014/main" id="{8061CFE8-D167-497D-A31A-49A42358D6AD}"/>
              </a:ext>
            </a:extLst>
          </p:cNvPr>
          <p:cNvCxnSpPr>
            <a:stCxn id="6" idx="0"/>
          </p:cNvCxnSpPr>
          <p:nvPr/>
        </p:nvCxnSpPr>
        <p:spPr>
          <a:xfrm flipH="1" flipV="1">
            <a:off x="7883371" y="1580518"/>
            <a:ext cx="11775" cy="1487515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연결선: 꺾임 53">
            <a:extLst>
              <a:ext uri="{FF2B5EF4-FFF2-40B4-BE49-F238E27FC236}">
                <a16:creationId xmlns:a16="http://schemas.microsoft.com/office/drawing/2014/main" id="{6926174B-2C1A-4999-A732-34C85451785D}"/>
              </a:ext>
            </a:extLst>
          </p:cNvPr>
          <p:cNvCxnSpPr>
            <a:cxnSpLocks/>
            <a:stCxn id="22" idx="0"/>
            <a:endCxn id="29" idx="1"/>
          </p:cNvCxnSpPr>
          <p:nvPr/>
        </p:nvCxnSpPr>
        <p:spPr>
          <a:xfrm rot="5400000" flipH="1" flipV="1">
            <a:off x="5853778" y="-1127539"/>
            <a:ext cx="802195" cy="7534095"/>
          </a:xfrm>
          <a:prstGeom prst="bentConnector2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직선 연결선 55">
            <a:extLst>
              <a:ext uri="{FF2B5EF4-FFF2-40B4-BE49-F238E27FC236}">
                <a16:creationId xmlns:a16="http://schemas.microsoft.com/office/drawing/2014/main" id="{1D3D3F4F-DD18-4ADA-AE2C-007E44342453}"/>
              </a:ext>
            </a:extLst>
          </p:cNvPr>
          <p:cNvCxnSpPr>
            <a:stCxn id="18" idx="0"/>
          </p:cNvCxnSpPr>
          <p:nvPr/>
        </p:nvCxnSpPr>
        <p:spPr>
          <a:xfrm flipH="1" flipV="1">
            <a:off x="5779363" y="2218624"/>
            <a:ext cx="18404" cy="821408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직선 연결선 57">
            <a:extLst>
              <a:ext uri="{FF2B5EF4-FFF2-40B4-BE49-F238E27FC236}">
                <a16:creationId xmlns:a16="http://schemas.microsoft.com/office/drawing/2014/main" id="{8839A678-E8A8-4DE2-A6F7-DE6066084231}"/>
              </a:ext>
            </a:extLst>
          </p:cNvPr>
          <p:cNvCxnSpPr>
            <a:stCxn id="7" idx="0"/>
          </p:cNvCxnSpPr>
          <p:nvPr/>
        </p:nvCxnSpPr>
        <p:spPr>
          <a:xfrm flipV="1">
            <a:off x="9144219" y="2208443"/>
            <a:ext cx="8659" cy="859590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B2510C54-7151-40E8-B9E9-6208265FFEE4}"/>
              </a:ext>
            </a:extLst>
          </p:cNvPr>
          <p:cNvSpPr txBox="1"/>
          <p:nvPr/>
        </p:nvSpPr>
        <p:spPr>
          <a:xfrm>
            <a:off x="8235398" y="1855236"/>
            <a:ext cx="16031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00B050"/>
                </a:solidFill>
              </a:rPr>
              <a:t>Management</a:t>
            </a:r>
            <a:endParaRPr lang="ko-KR" altLang="en-US" dirty="0">
              <a:solidFill>
                <a:srgbClr val="00B050"/>
              </a:solidFill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E6FA749D-16B7-4395-83AD-6AE79E8D3ABD}"/>
              </a:ext>
            </a:extLst>
          </p:cNvPr>
          <p:cNvSpPr txBox="1"/>
          <p:nvPr/>
        </p:nvSpPr>
        <p:spPr>
          <a:xfrm>
            <a:off x="8495165" y="1163469"/>
            <a:ext cx="16031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External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4B647873-B613-46D7-8E06-115FD48A7126}"/>
              </a:ext>
            </a:extLst>
          </p:cNvPr>
          <p:cNvSpPr txBox="1"/>
          <p:nvPr/>
        </p:nvSpPr>
        <p:spPr>
          <a:xfrm>
            <a:off x="10225767" y="4490588"/>
            <a:ext cx="19011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solidFill>
                  <a:srgbClr val="4472C4"/>
                </a:solidFill>
              </a:rPr>
              <a:t>VLAN 10</a:t>
            </a:r>
            <a:endParaRPr lang="ko-KR" altLang="en-US" sz="3200" dirty="0">
              <a:solidFill>
                <a:srgbClr val="4472C4"/>
              </a:solidFill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22A5C4E-76A2-49AA-9DE2-7084C26FE185}"/>
              </a:ext>
            </a:extLst>
          </p:cNvPr>
          <p:cNvSpPr txBox="1"/>
          <p:nvPr/>
        </p:nvSpPr>
        <p:spPr>
          <a:xfrm>
            <a:off x="3804255" y="2669489"/>
            <a:ext cx="15594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172.25.10.111/24</a:t>
            </a:r>
            <a:endParaRPr lang="ko-KR" altLang="en-US" sz="1400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4252C43-D149-46B9-A95D-FA58EA2FDC36}"/>
              </a:ext>
            </a:extLst>
          </p:cNvPr>
          <p:cNvSpPr txBox="1"/>
          <p:nvPr/>
        </p:nvSpPr>
        <p:spPr>
          <a:xfrm>
            <a:off x="503242" y="2725667"/>
            <a:ext cx="15594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172.25.10.110/24</a:t>
            </a:r>
            <a:endParaRPr lang="ko-KR" altLang="en-US" sz="1400" dirty="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F58632D4-5BE3-49C0-9B3F-8BF9FA10DEF1}"/>
              </a:ext>
            </a:extLst>
          </p:cNvPr>
          <p:cNvSpPr txBox="1"/>
          <p:nvPr/>
        </p:nvSpPr>
        <p:spPr>
          <a:xfrm>
            <a:off x="7149780" y="2707793"/>
            <a:ext cx="15594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172.25.10.112/24</a:t>
            </a:r>
            <a:endParaRPr lang="ko-KR" altLang="en-US" sz="1400" dirty="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11EBC6F9-9A8C-4EA0-A2AC-F9E712476D6B}"/>
              </a:ext>
            </a:extLst>
          </p:cNvPr>
          <p:cNvSpPr txBox="1"/>
          <p:nvPr/>
        </p:nvSpPr>
        <p:spPr>
          <a:xfrm>
            <a:off x="4948014" y="3473916"/>
            <a:ext cx="16683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192.168.11.111/24</a:t>
            </a:r>
            <a:endParaRPr lang="ko-KR" altLang="en-US" sz="1400" dirty="0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A4025F4-B33C-4FCD-A224-CA7AD6E096E1}"/>
              </a:ext>
            </a:extLst>
          </p:cNvPr>
          <p:cNvSpPr txBox="1"/>
          <p:nvPr/>
        </p:nvSpPr>
        <p:spPr>
          <a:xfrm>
            <a:off x="1653648" y="3464062"/>
            <a:ext cx="16683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192.168.11.110/24</a:t>
            </a:r>
            <a:endParaRPr lang="ko-KR" altLang="en-US" sz="1400" dirty="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3F98EC4A-9500-4912-A029-749F08EF15A8}"/>
              </a:ext>
            </a:extLst>
          </p:cNvPr>
          <p:cNvSpPr txBox="1"/>
          <p:nvPr/>
        </p:nvSpPr>
        <p:spPr>
          <a:xfrm>
            <a:off x="8307674" y="3490912"/>
            <a:ext cx="16683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192.168.11.112/24</a:t>
            </a:r>
            <a:endParaRPr lang="ko-KR" altLang="en-US" sz="1400" dirty="0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A353AE4A-2861-42F8-AAE4-097764339A21}"/>
              </a:ext>
            </a:extLst>
          </p:cNvPr>
          <p:cNvSpPr txBox="1"/>
          <p:nvPr/>
        </p:nvSpPr>
        <p:spPr>
          <a:xfrm>
            <a:off x="8269478" y="1636809"/>
            <a:ext cx="16683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192.168.11.0/24</a:t>
            </a:r>
            <a:endParaRPr lang="ko-KR" altLang="en-US" sz="1400" dirty="0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6ECDF893-A3D9-4A68-887C-88A3B69DE8D8}"/>
              </a:ext>
            </a:extLst>
          </p:cNvPr>
          <p:cNvSpPr txBox="1"/>
          <p:nvPr/>
        </p:nvSpPr>
        <p:spPr>
          <a:xfrm>
            <a:off x="8292863" y="966547"/>
            <a:ext cx="16683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172.25.10.0/24</a:t>
            </a:r>
            <a:endParaRPr lang="ko-KR" altLang="en-US" sz="1400" dirty="0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8B9B5B83-140B-4E2F-B428-FB69C896B7C2}"/>
              </a:ext>
            </a:extLst>
          </p:cNvPr>
          <p:cNvSpPr txBox="1"/>
          <p:nvPr/>
        </p:nvSpPr>
        <p:spPr>
          <a:xfrm>
            <a:off x="497296" y="177553"/>
            <a:ext cx="31006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네트워크 환경 구성</a:t>
            </a:r>
            <a:r>
              <a:rPr lang="en-US" altLang="ko-KR" dirty="0"/>
              <a:t>(1</a:t>
            </a:r>
            <a:r>
              <a:rPr lang="ko-KR" altLang="en-US"/>
              <a:t>조</a:t>
            </a:r>
            <a:r>
              <a:rPr lang="en-US" altLang="ko-KR"/>
              <a:t>)</a:t>
            </a:r>
            <a:endParaRPr lang="en-US" altLang="ko-KR" dirty="0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915CC540-D76F-4EF0-8247-4DAEE81980C4}"/>
              </a:ext>
            </a:extLst>
          </p:cNvPr>
          <p:cNvSpPr txBox="1"/>
          <p:nvPr/>
        </p:nvSpPr>
        <p:spPr>
          <a:xfrm>
            <a:off x="8060827" y="4018627"/>
            <a:ext cx="8562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나</a:t>
            </a:r>
            <a:r>
              <a:rPr lang="en-US" altLang="ko-KR" dirty="0"/>
              <a:t>(Me)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905642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5F8222E-9643-4D7B-B292-7C7D12CBE36D}"/>
              </a:ext>
            </a:extLst>
          </p:cNvPr>
          <p:cNvSpPr txBox="1"/>
          <p:nvPr/>
        </p:nvSpPr>
        <p:spPr>
          <a:xfrm>
            <a:off x="74073" y="103390"/>
            <a:ext cx="934818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Openstack</a:t>
            </a:r>
            <a:r>
              <a:rPr lang="en-US" altLang="ko-KR" dirty="0"/>
              <a:t> – Load balancer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EE346AF-A9BE-4804-9659-8FBCD2D642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4005"/>
            <a:ext cx="12192000" cy="2479090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BCAD5EAC-BB91-4DD8-9C58-232CF9FB79C1}"/>
              </a:ext>
            </a:extLst>
          </p:cNvPr>
          <p:cNvSpPr/>
          <p:nvPr/>
        </p:nvSpPr>
        <p:spPr>
          <a:xfrm>
            <a:off x="74073" y="2562225"/>
            <a:ext cx="11984577" cy="276225"/>
          </a:xfrm>
          <a:prstGeom prst="rect">
            <a:avLst/>
          </a:prstGeom>
          <a:solidFill>
            <a:srgbClr val="FFFF00">
              <a:alpha val="36863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C78032DC-0B5A-4CC6-850E-4B7A6F9514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363710"/>
            <a:ext cx="12192000" cy="3493129"/>
          </a:xfrm>
          <a:prstGeom prst="rect">
            <a:avLst/>
          </a:prstGeom>
        </p:spPr>
      </p:pic>
      <p:sp>
        <p:nvSpPr>
          <p:cNvPr id="8" name="화살표: 아래쪽 7">
            <a:extLst>
              <a:ext uri="{FF2B5EF4-FFF2-40B4-BE49-F238E27FC236}">
                <a16:creationId xmlns:a16="http://schemas.microsoft.com/office/drawing/2014/main" id="{758774A5-05A5-42D2-9333-3EF1D37B6777}"/>
              </a:ext>
            </a:extLst>
          </p:cNvPr>
          <p:cNvSpPr/>
          <p:nvPr/>
        </p:nvSpPr>
        <p:spPr>
          <a:xfrm>
            <a:off x="2600325" y="2838450"/>
            <a:ext cx="542925" cy="80962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448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5F8222E-9643-4D7B-B292-7C7D12CBE36D}"/>
              </a:ext>
            </a:extLst>
          </p:cNvPr>
          <p:cNvSpPr txBox="1"/>
          <p:nvPr/>
        </p:nvSpPr>
        <p:spPr>
          <a:xfrm>
            <a:off x="74073" y="103390"/>
            <a:ext cx="934818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Openstack</a:t>
            </a:r>
            <a:r>
              <a:rPr lang="en-US" altLang="ko-KR" dirty="0"/>
              <a:t> – Load balancer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56F80BF-8DC3-4DAA-8104-2EB0028276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949" y="587972"/>
            <a:ext cx="7882659" cy="2601278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A2636B38-81B6-458A-8D2A-AB3626BDB5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134713"/>
            <a:ext cx="3193057" cy="716342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38B0E38A-BBEA-48C0-88DC-384BD634890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2758" y="5223338"/>
            <a:ext cx="3116850" cy="65537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092FCB8-5CB9-4E2C-AF6F-066725D98C21}"/>
              </a:ext>
            </a:extLst>
          </p:cNvPr>
          <p:cNvSpPr txBox="1"/>
          <p:nvPr/>
        </p:nvSpPr>
        <p:spPr>
          <a:xfrm>
            <a:off x="113034" y="5878715"/>
            <a:ext cx="32854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172.25.10.167 (floating IP)</a:t>
            </a:r>
          </a:p>
          <a:p>
            <a:r>
              <a:rPr lang="en-US" altLang="ko-KR" dirty="0"/>
              <a:t>Compute node 1</a:t>
            </a:r>
            <a:r>
              <a:rPr lang="ko-KR" altLang="en-US" dirty="0"/>
              <a:t>로 접속됨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16A6664-7054-44E3-AF72-5E79A5BB6944}"/>
              </a:ext>
            </a:extLst>
          </p:cNvPr>
          <p:cNvSpPr txBox="1"/>
          <p:nvPr/>
        </p:nvSpPr>
        <p:spPr>
          <a:xfrm>
            <a:off x="4902758" y="5878715"/>
            <a:ext cx="36494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172.25.10.157 (floating IP)</a:t>
            </a:r>
          </a:p>
          <a:p>
            <a:r>
              <a:rPr lang="en-US" altLang="ko-KR" dirty="0"/>
              <a:t>Controller node</a:t>
            </a:r>
            <a:r>
              <a:rPr lang="ko-KR" altLang="en-US" dirty="0"/>
              <a:t>로 접속됨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F12D469-4D88-4AC9-A96B-2D9745C0EB4E}"/>
              </a:ext>
            </a:extLst>
          </p:cNvPr>
          <p:cNvSpPr txBox="1"/>
          <p:nvPr/>
        </p:nvSpPr>
        <p:spPr>
          <a:xfrm>
            <a:off x="3176421" y="3571117"/>
            <a:ext cx="35510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172.25.10.150 </a:t>
            </a:r>
            <a:r>
              <a:rPr lang="ko-KR" altLang="en-US" dirty="0"/>
              <a:t>접속</a:t>
            </a:r>
          </a:p>
        </p:txBody>
      </p:sp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id="{53FCFC39-D817-48F8-A468-AD1CCDFD212D}"/>
              </a:ext>
            </a:extLst>
          </p:cNvPr>
          <p:cNvCxnSpPr>
            <a:cxnSpLocks/>
          </p:cNvCxnSpPr>
          <p:nvPr/>
        </p:nvCxnSpPr>
        <p:spPr>
          <a:xfrm flipH="1">
            <a:off x="3193058" y="4894673"/>
            <a:ext cx="1178917" cy="64417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C23DAFD0-5A72-45D8-A0AD-60B1509237C7}"/>
              </a:ext>
            </a:extLst>
          </p:cNvPr>
          <p:cNvCxnSpPr>
            <a:cxnSpLocks/>
          </p:cNvCxnSpPr>
          <p:nvPr/>
        </p:nvCxnSpPr>
        <p:spPr>
          <a:xfrm>
            <a:off x="4371975" y="4894673"/>
            <a:ext cx="628650" cy="59821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9A24EE75-8FFA-45D2-A2B2-B6020C158409}"/>
              </a:ext>
            </a:extLst>
          </p:cNvPr>
          <p:cNvSpPr txBox="1"/>
          <p:nvPr/>
        </p:nvSpPr>
        <p:spPr>
          <a:xfrm>
            <a:off x="3477087" y="4525341"/>
            <a:ext cx="26189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Load</a:t>
            </a:r>
            <a:r>
              <a:rPr lang="ko-KR" altLang="en-US" dirty="0"/>
              <a:t> </a:t>
            </a:r>
            <a:r>
              <a:rPr lang="en-US" altLang="ko-KR" dirty="0"/>
              <a:t>balancing</a:t>
            </a:r>
            <a:endParaRPr lang="ko-KR" altLang="en-US" dirty="0"/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3198C487-1079-4136-8B80-E7ADD118DFA8}"/>
              </a:ext>
            </a:extLst>
          </p:cNvPr>
          <p:cNvCxnSpPr>
            <a:cxnSpLocks/>
          </p:cNvCxnSpPr>
          <p:nvPr/>
        </p:nvCxnSpPr>
        <p:spPr>
          <a:xfrm>
            <a:off x="4358845" y="4029144"/>
            <a:ext cx="0" cy="49619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그림 15">
            <a:extLst>
              <a:ext uri="{FF2B5EF4-FFF2-40B4-BE49-F238E27FC236}">
                <a16:creationId xmlns:a16="http://schemas.microsoft.com/office/drawing/2014/main" id="{E31B8BA0-1349-4A18-A9ED-CDBDB49A28A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2220" y="1835895"/>
            <a:ext cx="3209925" cy="990208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37C30013-D367-4FF2-A8CA-8F09F9742883}"/>
              </a:ext>
            </a:extLst>
          </p:cNvPr>
          <p:cNvSpPr txBox="1"/>
          <p:nvPr/>
        </p:nvSpPr>
        <p:spPr>
          <a:xfrm>
            <a:off x="5932929" y="3308051"/>
            <a:ext cx="744855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Load Balancing</a:t>
            </a:r>
            <a:r>
              <a:rPr lang="ko-KR" altLang="en-US"/>
              <a:t>을 지울 수 없는 이유</a:t>
            </a:r>
            <a:endParaRPr lang="en-US" altLang="ko-KR"/>
          </a:p>
          <a:p>
            <a:pPr marL="285750" indent="-285750">
              <a:buFontTx/>
              <a:buChar char="-"/>
            </a:pPr>
            <a:r>
              <a:rPr lang="en-US" altLang="ko-KR"/>
              <a:t>Listener</a:t>
            </a:r>
            <a:r>
              <a:rPr lang="ko-KR" altLang="en-US"/>
              <a:t>에 포함된 </a:t>
            </a:r>
            <a:r>
              <a:rPr lang="en-US" altLang="ko-KR"/>
              <a:t>IP </a:t>
            </a:r>
            <a:r>
              <a:rPr lang="ko-KR" altLang="en-US"/>
              <a:t>풀을 쓰는 인스턴스가 있기 때문에</a:t>
            </a:r>
            <a:endParaRPr lang="en-US" altLang="ko-KR"/>
          </a:p>
          <a:p>
            <a:pPr marL="285750" indent="-285750">
              <a:buFontTx/>
              <a:buChar char="-"/>
            </a:pPr>
            <a:r>
              <a:rPr lang="en-US" altLang="ko-KR"/>
              <a:t>IP</a:t>
            </a:r>
            <a:r>
              <a:rPr lang="ko-KR" altLang="en-US"/>
              <a:t>를 사용 중인 인스턴스가 있으면 삭제 불가능</a:t>
            </a:r>
            <a:endParaRPr lang="en-US" altLang="ko-KR"/>
          </a:p>
          <a:p>
            <a:pPr marL="285750" indent="-285750">
              <a:buFontTx/>
              <a:buChar char="-"/>
            </a:pPr>
            <a:r>
              <a:rPr lang="ko-KR" altLang="en-US"/>
              <a:t>인스턴스를 먼저 </a:t>
            </a:r>
            <a:r>
              <a:rPr lang="en-US" altLang="ko-KR"/>
              <a:t>shut down</a:t>
            </a:r>
            <a:r>
              <a:rPr lang="ko-KR" altLang="en-US" err="1"/>
              <a:t>해야한다</a:t>
            </a:r>
            <a:r>
              <a:rPr lang="en-US" altLang="ko-KR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67688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5F8222E-9643-4D7B-B292-7C7D12CBE36D}"/>
              </a:ext>
            </a:extLst>
          </p:cNvPr>
          <p:cNvSpPr txBox="1"/>
          <p:nvPr/>
        </p:nvSpPr>
        <p:spPr>
          <a:xfrm>
            <a:off x="250332" y="235998"/>
            <a:ext cx="9348186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Cacti SNMP </a:t>
            </a:r>
            <a:r>
              <a:rPr lang="ko-KR" altLang="en-US" dirty="0"/>
              <a:t>설치법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i</a:t>
            </a:r>
            <a:r>
              <a:rPr lang="en-US" altLang="ko-KR"/>
              <a:t>ptables</a:t>
            </a:r>
            <a:r>
              <a:rPr lang="ko-KR" altLang="en-US" dirty="0"/>
              <a:t> </a:t>
            </a:r>
            <a:r>
              <a:rPr lang="en-US" altLang="ko-KR" dirty="0"/>
              <a:t>–</a:t>
            </a:r>
            <a:r>
              <a:rPr lang="en-US" altLang="ko-KR" dirty="0" err="1"/>
              <a:t>nL</a:t>
            </a:r>
            <a:endParaRPr lang="en-US" altLang="ko-KR" dirty="0"/>
          </a:p>
          <a:p>
            <a:r>
              <a:rPr lang="en-US" altLang="ko-KR" dirty="0" err="1"/>
              <a:t>ps</a:t>
            </a:r>
            <a:r>
              <a:rPr lang="en-US" altLang="ko-KR" dirty="0"/>
              <a:t> –</a:t>
            </a:r>
            <a:r>
              <a:rPr lang="en-US" altLang="ko-KR" dirty="0" err="1"/>
              <a:t>ef</a:t>
            </a:r>
            <a:r>
              <a:rPr lang="en-US" altLang="ko-KR" dirty="0"/>
              <a:t> | grep net-</a:t>
            </a:r>
            <a:r>
              <a:rPr lang="en-US" altLang="ko-KR" dirty="0" err="1"/>
              <a:t>snmpd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yum install net-</a:t>
            </a:r>
            <a:r>
              <a:rPr lang="en-US" altLang="ko-KR" dirty="0" err="1"/>
              <a:t>snmp</a:t>
            </a:r>
            <a:endParaRPr lang="en-US" altLang="ko-KR" dirty="0"/>
          </a:p>
          <a:p>
            <a:r>
              <a:rPr lang="en-US" altLang="ko-KR" dirty="0" err="1"/>
              <a:t>systemctl</a:t>
            </a:r>
            <a:r>
              <a:rPr lang="en-US" altLang="ko-KR" dirty="0"/>
              <a:t> start </a:t>
            </a:r>
            <a:r>
              <a:rPr lang="en-US" altLang="ko-KR" dirty="0" err="1"/>
              <a:t>snmpd</a:t>
            </a:r>
            <a:endParaRPr lang="en-US" altLang="ko-KR" dirty="0"/>
          </a:p>
          <a:p>
            <a:r>
              <a:rPr lang="en-US" altLang="ko-KR" dirty="0" err="1"/>
              <a:t>systemctl</a:t>
            </a:r>
            <a:r>
              <a:rPr lang="en-US" altLang="ko-KR" dirty="0"/>
              <a:t> status </a:t>
            </a:r>
            <a:r>
              <a:rPr lang="en-US" altLang="ko-KR" dirty="0" err="1"/>
              <a:t>snmpd</a:t>
            </a:r>
            <a:endParaRPr lang="en-US" altLang="ko-KR" dirty="0"/>
          </a:p>
          <a:p>
            <a:r>
              <a:rPr lang="en-US" altLang="ko-KR" dirty="0" err="1"/>
              <a:t>systemctl</a:t>
            </a:r>
            <a:r>
              <a:rPr lang="en-US" altLang="ko-KR" dirty="0"/>
              <a:t> enable </a:t>
            </a:r>
            <a:r>
              <a:rPr lang="en-US" altLang="ko-KR" dirty="0" err="1"/>
              <a:t>snmpd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&lt;Virtual Machine Setting -&gt; Network Adapter -&gt; </a:t>
            </a:r>
            <a:r>
              <a:rPr lang="en-US" altLang="ko-KR" dirty="0" err="1"/>
              <a:t>Advenced</a:t>
            </a:r>
            <a:r>
              <a:rPr lang="en-US" altLang="ko-KR" dirty="0"/>
              <a:t>.. -&gt; MAC </a:t>
            </a:r>
            <a:r>
              <a:rPr lang="ko-KR" altLang="en-US" dirty="0"/>
              <a:t>주소 확인</a:t>
            </a:r>
            <a:r>
              <a:rPr lang="en-US" altLang="ko-KR" dirty="0"/>
              <a:t>&gt;</a:t>
            </a:r>
          </a:p>
          <a:p>
            <a:r>
              <a:rPr lang="en-US" altLang="ko-KR" dirty="0"/>
              <a:t>cd /</a:t>
            </a:r>
            <a:r>
              <a:rPr lang="en-US" altLang="ko-KR" dirty="0" err="1"/>
              <a:t>etc</a:t>
            </a:r>
            <a:r>
              <a:rPr lang="en-US" altLang="ko-KR" dirty="0"/>
              <a:t>/</a:t>
            </a:r>
            <a:r>
              <a:rPr lang="en-US" altLang="ko-KR" dirty="0" err="1"/>
              <a:t>udev</a:t>
            </a:r>
            <a:r>
              <a:rPr lang="en-US" altLang="ko-KR" dirty="0"/>
              <a:t>/</a:t>
            </a:r>
            <a:r>
              <a:rPr lang="en-US" altLang="ko-KR" dirty="0" err="1"/>
              <a:t>write_net_rules</a:t>
            </a:r>
            <a:endParaRPr lang="en-US" altLang="ko-KR" dirty="0"/>
          </a:p>
          <a:p>
            <a:r>
              <a:rPr lang="en-US" altLang="ko-KR" dirty="0"/>
              <a:t>cd /</a:t>
            </a:r>
            <a:r>
              <a:rPr lang="en-US" altLang="ko-KR" dirty="0" err="1"/>
              <a:t>etc</a:t>
            </a:r>
            <a:r>
              <a:rPr lang="en-US" altLang="ko-KR" dirty="0"/>
              <a:t>/</a:t>
            </a:r>
            <a:r>
              <a:rPr lang="en-US" altLang="ko-KR" dirty="0" err="1"/>
              <a:t>udev</a:t>
            </a:r>
            <a:r>
              <a:rPr lang="en-US" altLang="ko-KR" dirty="0"/>
              <a:t>/</a:t>
            </a:r>
            <a:r>
              <a:rPr lang="en-US" altLang="ko-KR" dirty="0" err="1"/>
              <a:t>rules.d</a:t>
            </a:r>
            <a:endParaRPr lang="en-US" altLang="ko-KR" dirty="0"/>
          </a:p>
          <a:p>
            <a:r>
              <a:rPr lang="en-US" altLang="ko-KR" dirty="0"/>
              <a:t>vi 70-persistent-net.rules</a:t>
            </a:r>
          </a:p>
          <a:p>
            <a:r>
              <a:rPr lang="en-US" altLang="ko-KR" dirty="0"/>
              <a:t>vi /</a:t>
            </a:r>
            <a:r>
              <a:rPr lang="en-US" altLang="ko-KR" dirty="0" err="1"/>
              <a:t>etc</a:t>
            </a:r>
            <a:r>
              <a:rPr lang="en-US" altLang="ko-KR" dirty="0"/>
              <a:t>/</a:t>
            </a:r>
            <a:r>
              <a:rPr lang="en-US" altLang="ko-KR" dirty="0" err="1"/>
              <a:t>sysconfig</a:t>
            </a:r>
            <a:r>
              <a:rPr lang="en-US" altLang="ko-KR" dirty="0"/>
              <a:t>/network-scripts/ifcfg-eth0</a:t>
            </a:r>
          </a:p>
          <a:p>
            <a:r>
              <a:rPr lang="en-US" altLang="ko-KR" dirty="0"/>
              <a:t>-&gt; MAC ADDR : 00:0C:29:AA:43:A6 (VM ware</a:t>
            </a:r>
            <a:r>
              <a:rPr lang="ko-KR" altLang="en-US" dirty="0"/>
              <a:t>에 설정된 </a:t>
            </a:r>
            <a:r>
              <a:rPr lang="en-US" altLang="ko-KR" dirty="0"/>
              <a:t>MAC</a:t>
            </a:r>
            <a:r>
              <a:rPr lang="ko-KR" altLang="en-US" dirty="0"/>
              <a:t>주소로 수정</a:t>
            </a:r>
            <a:r>
              <a:rPr lang="en-US" altLang="ko-KR" dirty="0"/>
              <a:t>)</a:t>
            </a:r>
          </a:p>
          <a:p>
            <a:endParaRPr lang="en-US" altLang="ko-KR" dirty="0"/>
          </a:p>
          <a:p>
            <a:r>
              <a:rPr lang="en-US" altLang="ko-KR" dirty="0"/>
              <a:t>&lt;cacti Templates and Packages&gt;</a:t>
            </a:r>
          </a:p>
          <a:p>
            <a:r>
              <a:rPr lang="en-US" altLang="ko-KR" dirty="0">
                <a:hlinkClick r:id="rId2"/>
              </a:rPr>
              <a:t>https://docs.cacti.net/templates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-&gt; </a:t>
            </a:r>
            <a:r>
              <a:rPr lang="ko-KR" altLang="en-US" dirty="0"/>
              <a:t>그래프 템플릿을 받아서 지정할 수 있음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873259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5F8222E-9643-4D7B-B292-7C7D12CBE36D}"/>
              </a:ext>
            </a:extLst>
          </p:cNvPr>
          <p:cNvSpPr txBox="1"/>
          <p:nvPr/>
        </p:nvSpPr>
        <p:spPr>
          <a:xfrm>
            <a:off x="207608" y="0"/>
            <a:ext cx="93481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콘솔 화면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5A96494-EA29-4B56-A009-1926F3E4AE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04613"/>
            <a:ext cx="6127011" cy="4877223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085C6F70-50F9-4329-A1C6-EF1A63F403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504613"/>
            <a:ext cx="6035563" cy="487722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36946E6-185D-406F-8FBF-4E0A597B0A3A}"/>
              </a:ext>
            </a:extLst>
          </p:cNvPr>
          <p:cNvSpPr txBox="1"/>
          <p:nvPr/>
        </p:nvSpPr>
        <p:spPr>
          <a:xfrm>
            <a:off x="6552573" y="5592932"/>
            <a:ext cx="51224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ㅇ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489369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5F8222E-9643-4D7B-B292-7C7D12CBE36D}"/>
              </a:ext>
            </a:extLst>
          </p:cNvPr>
          <p:cNvSpPr txBox="1"/>
          <p:nvPr/>
        </p:nvSpPr>
        <p:spPr>
          <a:xfrm>
            <a:off x="108289" y="173855"/>
            <a:ext cx="93481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Cacti Setting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AEDEF52-2AB4-4223-BB42-5755A51106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545" y="634099"/>
            <a:ext cx="9464860" cy="6142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93727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5F8222E-9643-4D7B-B292-7C7D12CBE36D}"/>
              </a:ext>
            </a:extLst>
          </p:cNvPr>
          <p:cNvSpPr txBox="1"/>
          <p:nvPr/>
        </p:nvSpPr>
        <p:spPr>
          <a:xfrm>
            <a:off x="108289" y="173855"/>
            <a:ext cx="93481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Cacti Setting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FE96618-C42A-46F2-9C58-B73886AE0A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70343"/>
            <a:ext cx="12006565" cy="5739981"/>
          </a:xfrm>
          <a:prstGeom prst="rect">
            <a:avLst/>
          </a:prstGeom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A125C928-F35B-4E74-AD6E-BD450AB74F8B}"/>
              </a:ext>
            </a:extLst>
          </p:cNvPr>
          <p:cNvSpPr/>
          <p:nvPr/>
        </p:nvSpPr>
        <p:spPr>
          <a:xfrm>
            <a:off x="0" y="2663301"/>
            <a:ext cx="2050742" cy="1633491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565D5F0-EC75-48DF-9E37-5F3471E6BCB8}"/>
              </a:ext>
            </a:extLst>
          </p:cNvPr>
          <p:cNvSpPr txBox="1"/>
          <p:nvPr/>
        </p:nvSpPr>
        <p:spPr>
          <a:xfrm>
            <a:off x="2157274" y="3213717"/>
            <a:ext cx="20507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그래픽 템플릿이 적용됨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971163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5F8222E-9643-4D7B-B292-7C7D12CBE36D}"/>
              </a:ext>
            </a:extLst>
          </p:cNvPr>
          <p:cNvSpPr txBox="1"/>
          <p:nvPr/>
        </p:nvSpPr>
        <p:spPr>
          <a:xfrm>
            <a:off x="108289" y="173855"/>
            <a:ext cx="93481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Cacti </a:t>
            </a:r>
            <a:r>
              <a:rPr lang="ko-KR" altLang="en-US" dirty="0"/>
              <a:t>그래프 적용</a:t>
            </a: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A7B627BA-44F9-4BBC-847C-A7CEE969E1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89" y="685265"/>
            <a:ext cx="11545300" cy="6172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53917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5F8222E-9643-4D7B-B292-7C7D12CBE36D}"/>
              </a:ext>
            </a:extLst>
          </p:cNvPr>
          <p:cNvSpPr txBox="1"/>
          <p:nvPr/>
        </p:nvSpPr>
        <p:spPr>
          <a:xfrm>
            <a:off x="108289" y="173855"/>
            <a:ext cx="93481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그래프 적용 후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99F9FC3-72C1-40BE-9044-5E35761E39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54964"/>
            <a:ext cx="5267325" cy="2483347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79B498B2-DE8D-42BD-829B-58B0041D24D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7374" y="383741"/>
            <a:ext cx="5664425" cy="265457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2F0B4896-61FA-49E0-8090-548FA9CBFE9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025" y="3415470"/>
            <a:ext cx="10029825" cy="3268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8450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446FF8A7-8568-49A8-B234-8F10E0D196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25" y="1268975"/>
            <a:ext cx="12192000" cy="47201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A705CB7-9483-423C-A63C-B0D8D9E4ED27}"/>
              </a:ext>
            </a:extLst>
          </p:cNvPr>
          <p:cNvSpPr txBox="1"/>
          <p:nvPr/>
        </p:nvSpPr>
        <p:spPr>
          <a:xfrm>
            <a:off x="4172505" y="3122997"/>
            <a:ext cx="12073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L3 </a:t>
            </a:r>
            <a:r>
              <a:rPr lang="ko-KR" altLang="en-US" dirty="0"/>
              <a:t>스위치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6D75FAE-B732-4174-A40B-2AE6B2F435A4}"/>
              </a:ext>
            </a:extLst>
          </p:cNvPr>
          <p:cNvSpPr txBox="1"/>
          <p:nvPr/>
        </p:nvSpPr>
        <p:spPr>
          <a:xfrm>
            <a:off x="4617868" y="927361"/>
            <a:ext cx="17119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iptime</a:t>
            </a:r>
            <a:r>
              <a:rPr lang="en-US" altLang="ko-KR" dirty="0"/>
              <a:t> </a:t>
            </a:r>
            <a:r>
              <a:rPr lang="ko-KR" altLang="en-US" dirty="0"/>
              <a:t>공유기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D4C292-04A7-426B-8DFB-62A9C4EEB2D6}"/>
              </a:ext>
            </a:extLst>
          </p:cNvPr>
          <p:cNvSpPr txBox="1"/>
          <p:nvPr/>
        </p:nvSpPr>
        <p:spPr>
          <a:xfrm rot="18721281">
            <a:off x="1918141" y="574837"/>
            <a:ext cx="17119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카페 네트워크</a:t>
            </a:r>
            <a:endParaRPr lang="ko-KR" altLang="en-US" dirty="0"/>
          </a:p>
        </p:txBody>
      </p:sp>
      <p:sp>
        <p:nvSpPr>
          <p:cNvPr id="6" name="화살표: 오른쪽 5">
            <a:extLst>
              <a:ext uri="{FF2B5EF4-FFF2-40B4-BE49-F238E27FC236}">
                <a16:creationId xmlns:a16="http://schemas.microsoft.com/office/drawing/2014/main" id="{289833B5-070F-4164-9C1E-276AC35B4D6C}"/>
              </a:ext>
            </a:extLst>
          </p:cNvPr>
          <p:cNvSpPr/>
          <p:nvPr/>
        </p:nvSpPr>
        <p:spPr>
          <a:xfrm rot="13824340">
            <a:off x="1632448" y="5452041"/>
            <a:ext cx="272724" cy="273969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13B4B55-367B-4D7B-B882-798EF0F749BA}"/>
              </a:ext>
            </a:extLst>
          </p:cNvPr>
          <p:cNvSpPr txBox="1"/>
          <p:nvPr/>
        </p:nvSpPr>
        <p:spPr>
          <a:xfrm>
            <a:off x="1768810" y="5712870"/>
            <a:ext cx="5859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Me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9B95F63-597C-4918-BABC-C2E5088D4AF4}"/>
              </a:ext>
            </a:extLst>
          </p:cNvPr>
          <p:cNvSpPr txBox="1"/>
          <p:nvPr/>
        </p:nvSpPr>
        <p:spPr>
          <a:xfrm>
            <a:off x="532660" y="4270159"/>
            <a:ext cx="19175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</a:t>
            </a:r>
            <a:r>
              <a:rPr lang="ko-KR" altLang="en-US" dirty="0"/>
              <a:t>조</a:t>
            </a:r>
            <a:r>
              <a:rPr lang="en-US" altLang="ko-KR" dirty="0"/>
              <a:t> </a:t>
            </a:r>
            <a:r>
              <a:rPr lang="ko-KR" altLang="en-US" dirty="0" err="1"/>
              <a:t>내부망</a:t>
            </a:r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3CC4CC-3033-4E6C-940A-9A8998278652}"/>
              </a:ext>
            </a:extLst>
          </p:cNvPr>
          <p:cNvSpPr txBox="1"/>
          <p:nvPr/>
        </p:nvSpPr>
        <p:spPr>
          <a:xfrm>
            <a:off x="7499926" y="265156"/>
            <a:ext cx="446116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아산 팀 실습 네트워크 구성도</a:t>
            </a:r>
            <a:endParaRPr lang="en-US" altLang="ko-KR" dirty="0"/>
          </a:p>
          <a:p>
            <a:r>
              <a:rPr lang="ko-KR" altLang="en-US" dirty="0"/>
              <a:t>본인 </a:t>
            </a:r>
            <a:r>
              <a:rPr lang="en-US" altLang="ko-KR" dirty="0"/>
              <a:t>: 1</a:t>
            </a:r>
            <a:r>
              <a:rPr lang="ko-KR" altLang="en-US" dirty="0"/>
              <a:t>조 소속 </a:t>
            </a:r>
            <a:r>
              <a:rPr lang="en-US" altLang="ko-KR" dirty="0"/>
              <a:t>-&gt; VLAN 10</a:t>
            </a:r>
          </a:p>
          <a:p>
            <a:r>
              <a:rPr lang="en-US" altLang="ko-KR" dirty="0"/>
              <a:t>ens33 -&gt; L3 </a:t>
            </a:r>
            <a:r>
              <a:rPr lang="ko-KR" altLang="en-US" dirty="0"/>
              <a:t>스위치 </a:t>
            </a:r>
            <a:r>
              <a:rPr lang="en-US" altLang="ko-KR" dirty="0"/>
              <a:t>-&gt; </a:t>
            </a:r>
            <a:r>
              <a:rPr lang="en-US" altLang="ko-KR" dirty="0" err="1"/>
              <a:t>iptime</a:t>
            </a:r>
            <a:r>
              <a:rPr lang="en-US" altLang="ko-KR" dirty="0"/>
              <a:t> -&gt; </a:t>
            </a:r>
            <a:r>
              <a:rPr lang="ko-KR" altLang="en-US" dirty="0"/>
              <a:t>카페</a:t>
            </a:r>
            <a:endParaRPr lang="en-US" altLang="ko-KR" dirty="0"/>
          </a:p>
          <a:p>
            <a:r>
              <a:rPr lang="en-US" altLang="ko-KR" dirty="0"/>
              <a:t>ens34 -&gt; wi-fi </a:t>
            </a:r>
            <a:r>
              <a:rPr lang="ko-KR" altLang="en-US" dirty="0"/>
              <a:t>무선 </a:t>
            </a:r>
            <a:r>
              <a:rPr lang="en-US" altLang="ko-KR" dirty="0"/>
              <a:t>-&gt; </a:t>
            </a:r>
            <a:r>
              <a:rPr lang="ko-KR" altLang="en-US" dirty="0"/>
              <a:t>카페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22EE5040-2518-4925-B908-9237804344CE}"/>
              </a:ext>
            </a:extLst>
          </p:cNvPr>
          <p:cNvSpPr/>
          <p:nvPr/>
        </p:nvSpPr>
        <p:spPr>
          <a:xfrm>
            <a:off x="3577701" y="2805344"/>
            <a:ext cx="1802167" cy="967666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DABC101-2204-4C0A-8366-8B0A102E44B0}"/>
              </a:ext>
            </a:extLst>
          </p:cNvPr>
          <p:cNvSpPr txBox="1"/>
          <p:nvPr/>
        </p:nvSpPr>
        <p:spPr>
          <a:xfrm>
            <a:off x="3484268" y="3773010"/>
            <a:ext cx="20063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JFFNMS </a:t>
            </a:r>
            <a:r>
              <a:rPr lang="ko-KR" altLang="en-US" dirty="0"/>
              <a:t>측정대상</a:t>
            </a:r>
          </a:p>
        </p:txBody>
      </p:sp>
    </p:spTree>
    <p:extLst>
      <p:ext uri="{BB962C8B-B14F-4D97-AF65-F5344CB8AC3E}">
        <p14:creationId xmlns:p14="http://schemas.microsoft.com/office/powerpoint/2010/main" val="21486558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8E5A8FA-B9EF-4351-A0EB-D29E0375EE58}"/>
              </a:ext>
            </a:extLst>
          </p:cNvPr>
          <p:cNvSpPr txBox="1"/>
          <p:nvPr/>
        </p:nvSpPr>
        <p:spPr>
          <a:xfrm>
            <a:off x="133166" y="126052"/>
            <a:ext cx="33202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JFFNMS </a:t>
            </a:r>
            <a:r>
              <a:rPr lang="ko-KR" altLang="en-US" dirty="0"/>
              <a:t>설정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27B04ED5-970B-4678-BB5C-E17EA0AC5D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166" y="495384"/>
            <a:ext cx="6348010" cy="3551228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803C503D-7F84-45C6-B8A4-04308C38E1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0013" y="4627189"/>
            <a:ext cx="9148980" cy="223081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D7F70EC-5DB6-4A2A-9ABD-6A93D26AFAD5}"/>
              </a:ext>
            </a:extLst>
          </p:cNvPr>
          <p:cNvSpPr txBox="1"/>
          <p:nvPr/>
        </p:nvSpPr>
        <p:spPr>
          <a:xfrm>
            <a:off x="8884828" y="5557928"/>
            <a:ext cx="26698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유선</a:t>
            </a:r>
            <a:r>
              <a:rPr lang="en-US" altLang="ko-KR" dirty="0"/>
              <a:t>(Bridge) : L3 </a:t>
            </a:r>
            <a:r>
              <a:rPr lang="ko-KR" altLang="en-US" dirty="0"/>
              <a:t>스위치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2A7E531-FF01-4F43-9CB1-ECC98A22307D}"/>
              </a:ext>
            </a:extLst>
          </p:cNvPr>
          <p:cNvSpPr txBox="1"/>
          <p:nvPr/>
        </p:nvSpPr>
        <p:spPr>
          <a:xfrm>
            <a:off x="8951898" y="6138505"/>
            <a:ext cx="32401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무선</a:t>
            </a:r>
            <a:r>
              <a:rPr lang="en-US" altLang="ko-KR" dirty="0"/>
              <a:t> (Bridge) : </a:t>
            </a:r>
            <a:r>
              <a:rPr lang="en-US" altLang="ko-KR" dirty="0" err="1"/>
              <a:t>Wifi</a:t>
            </a:r>
            <a:r>
              <a:rPr lang="en-US" altLang="ko-KR" dirty="0"/>
              <a:t> </a:t>
            </a:r>
            <a:r>
              <a:rPr lang="ko-KR" altLang="en-US" dirty="0"/>
              <a:t>무선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F1BD39C-35D0-47CC-A09E-A02B97F609C5}"/>
              </a:ext>
            </a:extLst>
          </p:cNvPr>
          <p:cNvSpPr txBox="1"/>
          <p:nvPr/>
        </p:nvSpPr>
        <p:spPr>
          <a:xfrm>
            <a:off x="6853381" y="803564"/>
            <a:ext cx="43872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JFFNMS</a:t>
            </a:r>
            <a:r>
              <a:rPr lang="ko-KR" altLang="en-US" dirty="0"/>
              <a:t>가 설치된 하드디스크 이미지를 </a:t>
            </a:r>
            <a:endParaRPr lang="en-US" altLang="ko-KR" dirty="0"/>
          </a:p>
          <a:p>
            <a:r>
              <a:rPr lang="ko-KR" altLang="en-US" dirty="0"/>
              <a:t>가져와서 사용 중</a:t>
            </a:r>
            <a:endParaRPr lang="en-US" altLang="ko-KR" dirty="0"/>
          </a:p>
        </p:txBody>
      </p: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B71512CD-7151-4AEE-98F9-FE8A58E207BA}"/>
              </a:ext>
            </a:extLst>
          </p:cNvPr>
          <p:cNvCxnSpPr>
            <a:stCxn id="3" idx="1"/>
          </p:cNvCxnSpPr>
          <p:nvPr/>
        </p:nvCxnSpPr>
        <p:spPr>
          <a:xfrm flipH="1">
            <a:off x="1930400" y="1126730"/>
            <a:ext cx="4922981" cy="563525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0EA5679A-1072-458E-8A9E-5D56C0AB7D7B}"/>
              </a:ext>
            </a:extLst>
          </p:cNvPr>
          <p:cNvCxnSpPr>
            <a:cxnSpLocks/>
          </p:cNvCxnSpPr>
          <p:nvPr/>
        </p:nvCxnSpPr>
        <p:spPr>
          <a:xfrm flipH="1">
            <a:off x="845681" y="3066473"/>
            <a:ext cx="2607733" cy="2676121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20572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8CCD32E0-C9F6-4192-9D52-0F429756FD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1439284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19262E3-C5BF-4DDA-89DB-41DFD821E052}"/>
              </a:ext>
            </a:extLst>
          </p:cNvPr>
          <p:cNvSpPr txBox="1"/>
          <p:nvPr/>
        </p:nvSpPr>
        <p:spPr>
          <a:xfrm>
            <a:off x="3704984" y="5256891"/>
            <a:ext cx="2391016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dirty="0"/>
              <a:t>구동 화면</a:t>
            </a:r>
            <a:endParaRPr lang="en-US" altLang="ko-KR" dirty="0"/>
          </a:p>
          <a:p>
            <a:r>
              <a:rPr lang="en-US" altLang="ko-KR" dirty="0" err="1"/>
              <a:t>ip</a:t>
            </a:r>
            <a:r>
              <a:rPr lang="en-US" altLang="ko-KR" dirty="0"/>
              <a:t> = 172.25.10.236</a:t>
            </a:r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4FAF8A2-B5BF-44CF-911C-326D3D31FF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67542" y="3924300"/>
            <a:ext cx="4054191" cy="2423370"/>
          </a:xfrm>
          <a:prstGeom prst="rect">
            <a:avLst/>
          </a:prstGeom>
        </p:spPr>
      </p:pic>
      <p:sp>
        <p:nvSpPr>
          <p:cNvPr id="7" name="화살표: 오른쪽 6">
            <a:extLst>
              <a:ext uri="{FF2B5EF4-FFF2-40B4-BE49-F238E27FC236}">
                <a16:creationId xmlns:a16="http://schemas.microsoft.com/office/drawing/2014/main" id="{74042E4A-E590-4D2B-BBD6-D43E139DFE2C}"/>
              </a:ext>
            </a:extLst>
          </p:cNvPr>
          <p:cNvSpPr/>
          <p:nvPr/>
        </p:nvSpPr>
        <p:spPr>
          <a:xfrm>
            <a:off x="6991350" y="4781550"/>
            <a:ext cx="1257300" cy="7239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화살표: 오른쪽 7">
            <a:extLst>
              <a:ext uri="{FF2B5EF4-FFF2-40B4-BE49-F238E27FC236}">
                <a16:creationId xmlns:a16="http://schemas.microsoft.com/office/drawing/2014/main" id="{40842B78-9DF7-455B-9975-C2876C0582D5}"/>
              </a:ext>
            </a:extLst>
          </p:cNvPr>
          <p:cNvSpPr/>
          <p:nvPr/>
        </p:nvSpPr>
        <p:spPr>
          <a:xfrm rot="13969822">
            <a:off x="7657446" y="3183899"/>
            <a:ext cx="2317325" cy="37279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17019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F344D109-141A-4D2C-923C-F5E644DB21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39" y="0"/>
            <a:ext cx="5580313" cy="3533775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F5B14DCE-A1F7-4AC5-BFAB-27E2226A15C1}"/>
              </a:ext>
            </a:extLst>
          </p:cNvPr>
          <p:cNvSpPr/>
          <p:nvPr/>
        </p:nvSpPr>
        <p:spPr>
          <a:xfrm>
            <a:off x="180975" y="85725"/>
            <a:ext cx="1666875" cy="352425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43553276-E29C-40A1-AE63-C79B6CC317FA}"/>
              </a:ext>
            </a:extLst>
          </p:cNvPr>
          <p:cNvCxnSpPr/>
          <p:nvPr/>
        </p:nvCxnSpPr>
        <p:spPr>
          <a:xfrm>
            <a:off x="1847850" y="438150"/>
            <a:ext cx="1641074" cy="9451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23B478E9-C4B6-4E0D-964F-13A6AD962018}"/>
              </a:ext>
            </a:extLst>
          </p:cNvPr>
          <p:cNvSpPr txBox="1"/>
          <p:nvPr/>
        </p:nvSpPr>
        <p:spPr>
          <a:xfrm>
            <a:off x="3410911" y="2148396"/>
            <a:ext cx="18535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1) </a:t>
            </a:r>
            <a:r>
              <a:rPr lang="ko-KR" altLang="en-US" dirty="0"/>
              <a:t>관리자 메뉴</a:t>
            </a:r>
          </a:p>
        </p:txBody>
      </p:sp>
      <p:sp>
        <p:nvSpPr>
          <p:cNvPr id="8" name="화살표: 오른쪽 7">
            <a:extLst>
              <a:ext uri="{FF2B5EF4-FFF2-40B4-BE49-F238E27FC236}">
                <a16:creationId xmlns:a16="http://schemas.microsoft.com/office/drawing/2014/main" id="{ED50A070-7F89-4BDE-AC65-8615D5B542E9}"/>
              </a:ext>
            </a:extLst>
          </p:cNvPr>
          <p:cNvSpPr/>
          <p:nvPr/>
        </p:nvSpPr>
        <p:spPr>
          <a:xfrm>
            <a:off x="5814874" y="1669002"/>
            <a:ext cx="488272" cy="30184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335C9671-889C-4E3F-9D05-A1CD369F77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6426" y="-1"/>
            <a:ext cx="2555876" cy="3667125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FF8E1779-D260-4FAC-A3A0-48A560CDE3BC}"/>
              </a:ext>
            </a:extLst>
          </p:cNvPr>
          <p:cNvSpPr/>
          <p:nvPr/>
        </p:nvSpPr>
        <p:spPr>
          <a:xfrm>
            <a:off x="6616426" y="666750"/>
            <a:ext cx="2555876" cy="64770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535CEA4-4654-429A-BFCF-3FAE37EF7538}"/>
              </a:ext>
            </a:extLst>
          </p:cNvPr>
          <p:cNvSpPr txBox="1"/>
          <p:nvPr/>
        </p:nvSpPr>
        <p:spPr>
          <a:xfrm>
            <a:off x="8169001" y="1321384"/>
            <a:ext cx="35528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Hosts</a:t>
            </a:r>
            <a:r>
              <a:rPr lang="ko-KR" altLang="en-US" dirty="0"/>
              <a:t> </a:t>
            </a:r>
            <a:r>
              <a:rPr lang="en-US" altLang="ko-KR" dirty="0"/>
              <a:t>and</a:t>
            </a:r>
            <a:r>
              <a:rPr lang="ko-KR" altLang="en-US" dirty="0"/>
              <a:t> </a:t>
            </a:r>
            <a:r>
              <a:rPr lang="en-US" altLang="ko-KR" dirty="0"/>
              <a:t>Interfaces -&gt; Zones</a:t>
            </a:r>
            <a:endParaRPr lang="ko-KR" altLang="en-US" dirty="0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A8DD5414-DC62-4697-8A7A-B063F17CB64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897" y="3777975"/>
            <a:ext cx="9927111" cy="845101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BC4FBFAE-5B9A-493C-AE43-F964636E5B0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897" y="4867276"/>
            <a:ext cx="10168507" cy="912559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769207B7-84E8-458F-A162-591584C61DB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897" y="5876082"/>
            <a:ext cx="9124950" cy="1108252"/>
          </a:xfrm>
          <a:prstGeom prst="rect">
            <a:avLst/>
          </a:prstGeom>
        </p:spPr>
      </p:pic>
      <p:sp>
        <p:nvSpPr>
          <p:cNvPr id="19" name="직사각형 18">
            <a:extLst>
              <a:ext uri="{FF2B5EF4-FFF2-40B4-BE49-F238E27FC236}">
                <a16:creationId xmlns:a16="http://schemas.microsoft.com/office/drawing/2014/main" id="{92000156-7508-4495-9198-81605403911A}"/>
              </a:ext>
            </a:extLst>
          </p:cNvPr>
          <p:cNvSpPr/>
          <p:nvPr/>
        </p:nvSpPr>
        <p:spPr>
          <a:xfrm>
            <a:off x="499897" y="5340907"/>
            <a:ext cx="744134" cy="295273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0A623175-AE27-41C1-BDAA-886609B670AD}"/>
              </a:ext>
            </a:extLst>
          </p:cNvPr>
          <p:cNvSpPr/>
          <p:nvPr/>
        </p:nvSpPr>
        <p:spPr>
          <a:xfrm>
            <a:off x="9409701" y="4052888"/>
            <a:ext cx="744134" cy="295273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1" name="화살표: 오른쪽 20">
            <a:extLst>
              <a:ext uri="{FF2B5EF4-FFF2-40B4-BE49-F238E27FC236}">
                <a16:creationId xmlns:a16="http://schemas.microsoft.com/office/drawing/2014/main" id="{43FF4A6C-945F-44E0-85A9-C7856DC6C6E1}"/>
              </a:ext>
            </a:extLst>
          </p:cNvPr>
          <p:cNvSpPr/>
          <p:nvPr/>
        </p:nvSpPr>
        <p:spPr>
          <a:xfrm rot="5400000">
            <a:off x="5399694" y="4668233"/>
            <a:ext cx="488272" cy="301841"/>
          </a:xfrm>
          <a:prstGeom prst="rightArrow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화살표: 오른쪽 21">
            <a:extLst>
              <a:ext uri="{FF2B5EF4-FFF2-40B4-BE49-F238E27FC236}">
                <a16:creationId xmlns:a16="http://schemas.microsoft.com/office/drawing/2014/main" id="{A26F5E97-69BD-494F-A568-E0EE45CC33EA}"/>
              </a:ext>
            </a:extLst>
          </p:cNvPr>
          <p:cNvSpPr/>
          <p:nvPr/>
        </p:nvSpPr>
        <p:spPr>
          <a:xfrm rot="5400000">
            <a:off x="5370236" y="5756253"/>
            <a:ext cx="488272" cy="301841"/>
          </a:xfrm>
          <a:prstGeom prst="rightArrow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6DA663F-168E-48FD-B46D-A3735BDC67FB}"/>
              </a:ext>
            </a:extLst>
          </p:cNvPr>
          <p:cNvSpPr txBox="1"/>
          <p:nvPr/>
        </p:nvSpPr>
        <p:spPr>
          <a:xfrm>
            <a:off x="6303146" y="6525669"/>
            <a:ext cx="61841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Add -&gt; Zone</a:t>
            </a:r>
            <a:r>
              <a:rPr lang="ko-KR" altLang="en-US" dirty="0"/>
              <a:t>의 이름을 지정 </a:t>
            </a:r>
            <a:r>
              <a:rPr lang="en-US" altLang="ko-KR" dirty="0"/>
              <a:t>-&gt; Save -&gt; Zone</a:t>
            </a:r>
            <a:r>
              <a:rPr lang="ko-KR" altLang="en-US" dirty="0"/>
              <a:t>이 등록됨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EF33BB2-1615-432D-A2A0-B3878419F906}"/>
              </a:ext>
            </a:extLst>
          </p:cNvPr>
          <p:cNvSpPr txBox="1"/>
          <p:nvPr/>
        </p:nvSpPr>
        <p:spPr>
          <a:xfrm>
            <a:off x="3410911" y="2598567"/>
            <a:ext cx="60864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&lt;Zone </a:t>
            </a:r>
            <a:r>
              <a:rPr lang="ko-KR" altLang="en-US" dirty="0"/>
              <a:t>지정</a:t>
            </a:r>
            <a:r>
              <a:rPr lang="en-US" altLang="ko-KR" dirty="0"/>
              <a:t>&gt;</a:t>
            </a:r>
            <a:endParaRPr lang="ko-KR" altLang="en-US" dirty="0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9F9E35B9-537A-4369-BF62-16AA29889B48}"/>
              </a:ext>
            </a:extLst>
          </p:cNvPr>
          <p:cNvSpPr/>
          <p:nvPr/>
        </p:nvSpPr>
        <p:spPr>
          <a:xfrm>
            <a:off x="180975" y="2722905"/>
            <a:ext cx="1003768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 err="1">
                <a:solidFill>
                  <a:srgbClr val="FF0000"/>
                </a:solidFill>
              </a:rPr>
              <a:t>Zone을</a:t>
            </a:r>
            <a:r>
              <a:rPr lang="ko-KR" altLang="en-US" dirty="0">
                <a:solidFill>
                  <a:srgbClr val="FF0000"/>
                </a:solidFill>
              </a:rPr>
              <a:t> </a:t>
            </a:r>
            <a:r>
              <a:rPr lang="ko-KR" altLang="en-US" dirty="0" err="1">
                <a:solidFill>
                  <a:srgbClr val="FF0000"/>
                </a:solidFill>
              </a:rPr>
              <a:t>지정해야하는</a:t>
            </a:r>
            <a:r>
              <a:rPr lang="ko-KR" altLang="en-US" dirty="0">
                <a:solidFill>
                  <a:srgbClr val="FF0000"/>
                </a:solidFill>
              </a:rPr>
              <a:t> 이유</a:t>
            </a:r>
          </a:p>
          <a:p>
            <a:pPr marL="285750" indent="-285750">
              <a:buFontTx/>
              <a:buChar char="-"/>
            </a:pPr>
            <a:r>
              <a:rPr lang="ko-KR" altLang="en-US" dirty="0">
                <a:solidFill>
                  <a:srgbClr val="FF0000"/>
                </a:solidFill>
              </a:rPr>
              <a:t>지역이나 장소 별로 데이터를 분류, 관리하기 위해서</a:t>
            </a:r>
            <a:endParaRPr lang="en-US" altLang="ko-KR" dirty="0">
              <a:solidFill>
                <a:srgbClr val="FF0000"/>
              </a:solidFill>
            </a:endParaRPr>
          </a:p>
          <a:p>
            <a:r>
              <a:rPr lang="en-US" altLang="ko-KR" dirty="0">
                <a:solidFill>
                  <a:srgbClr val="FF0000"/>
                </a:solidFill>
              </a:rPr>
              <a:t>    </a:t>
            </a:r>
            <a:r>
              <a:rPr lang="ko-KR" altLang="en-US" dirty="0">
                <a:solidFill>
                  <a:srgbClr val="FF0000"/>
                </a:solidFill>
              </a:rPr>
              <a:t>예</a:t>
            </a:r>
            <a:r>
              <a:rPr lang="en-US" altLang="ko-KR" dirty="0">
                <a:solidFill>
                  <a:srgbClr val="FF0000"/>
                </a:solidFill>
              </a:rPr>
              <a:t>) </a:t>
            </a:r>
            <a:r>
              <a:rPr lang="ko-KR" altLang="en-US" dirty="0">
                <a:solidFill>
                  <a:srgbClr val="FF0000"/>
                </a:solidFill>
              </a:rPr>
              <a:t>순천향대 교내 </a:t>
            </a:r>
            <a:r>
              <a:rPr lang="en-US" altLang="ko-KR" dirty="0">
                <a:solidFill>
                  <a:srgbClr val="FF0000"/>
                </a:solidFill>
              </a:rPr>
              <a:t>Host, </a:t>
            </a:r>
            <a:r>
              <a:rPr lang="ko-KR" altLang="en-US" dirty="0">
                <a:solidFill>
                  <a:srgbClr val="FF0000"/>
                </a:solidFill>
              </a:rPr>
              <a:t>영국 내 </a:t>
            </a:r>
            <a:r>
              <a:rPr lang="en-US" altLang="ko-KR" dirty="0">
                <a:solidFill>
                  <a:srgbClr val="FF0000"/>
                </a:solidFill>
              </a:rPr>
              <a:t>Host</a:t>
            </a:r>
            <a:endParaRPr lang="ko-KR" altLang="en-US" dirty="0">
              <a:solidFill>
                <a:srgbClr val="FF0000"/>
              </a:solidFill>
            </a:endParaRPr>
          </a:p>
          <a:p>
            <a:r>
              <a:rPr lang="ko-KR" altLang="en-US" dirty="0">
                <a:solidFill>
                  <a:srgbClr val="FF0000"/>
                </a:solidFill>
              </a:rPr>
              <a:t>- </a:t>
            </a:r>
            <a:r>
              <a:rPr lang="ko-KR" altLang="en-US" dirty="0" err="1">
                <a:solidFill>
                  <a:srgbClr val="FF0000"/>
                </a:solidFill>
              </a:rPr>
              <a:t>Zone이</a:t>
            </a:r>
            <a:r>
              <a:rPr lang="ko-KR" altLang="en-US" dirty="0">
                <a:solidFill>
                  <a:srgbClr val="FF0000"/>
                </a:solidFill>
              </a:rPr>
              <a:t> 없으면 Host 등록 불가 (해당 </a:t>
            </a:r>
            <a:r>
              <a:rPr lang="ko-KR" altLang="en-US" dirty="0" err="1">
                <a:solidFill>
                  <a:srgbClr val="FF0000"/>
                </a:solidFill>
              </a:rPr>
              <a:t>Host가</a:t>
            </a:r>
            <a:r>
              <a:rPr lang="ko-KR" altLang="en-US" dirty="0">
                <a:solidFill>
                  <a:srgbClr val="FF0000"/>
                </a:solidFill>
              </a:rPr>
              <a:t> 어느 지역에 소속되어 있는지 알아야 함)</a:t>
            </a:r>
          </a:p>
        </p:txBody>
      </p:sp>
    </p:spTree>
    <p:extLst>
      <p:ext uri="{BB962C8B-B14F-4D97-AF65-F5344CB8AC3E}">
        <p14:creationId xmlns:p14="http://schemas.microsoft.com/office/powerpoint/2010/main" val="18753800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8B8133C2-4BEE-443D-A80A-35DA810A7A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951" y="90487"/>
            <a:ext cx="2555876" cy="3667125"/>
          </a:xfrm>
          <a:prstGeom prst="rect">
            <a:avLst/>
          </a:prstGeom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A16CB213-2D21-4F83-AEA3-C59F73D129F0}"/>
              </a:ext>
            </a:extLst>
          </p:cNvPr>
          <p:cNvSpPr/>
          <p:nvPr/>
        </p:nvSpPr>
        <p:spPr>
          <a:xfrm>
            <a:off x="72751" y="1343025"/>
            <a:ext cx="2632076" cy="295275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59E6D46-1C1D-4A16-BB85-3C82347C4F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6386" y="222748"/>
            <a:ext cx="8065983" cy="681084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685FC394-0A49-4A76-94D8-086AD1082A3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7169" y="1000124"/>
            <a:ext cx="2025200" cy="81250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6D0C9A8-9C86-47E3-8271-AA60276DB7E7}"/>
              </a:ext>
            </a:extLst>
          </p:cNvPr>
          <p:cNvSpPr txBox="1"/>
          <p:nvPr/>
        </p:nvSpPr>
        <p:spPr>
          <a:xfrm>
            <a:off x="8676321" y="888129"/>
            <a:ext cx="18192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dirty="0"/>
              <a:t>. . . </a:t>
            </a:r>
            <a:endParaRPr lang="ko-KR" altLang="en-US" sz="3600" dirty="0"/>
          </a:p>
        </p:txBody>
      </p:sp>
      <p:sp>
        <p:nvSpPr>
          <p:cNvPr id="13" name="화살표: 오른쪽 12">
            <a:extLst>
              <a:ext uri="{FF2B5EF4-FFF2-40B4-BE49-F238E27FC236}">
                <a16:creationId xmlns:a16="http://schemas.microsoft.com/office/drawing/2014/main" id="{185A8DFD-0B93-4E26-8DB3-8931EE62F67F}"/>
              </a:ext>
            </a:extLst>
          </p:cNvPr>
          <p:cNvSpPr/>
          <p:nvPr/>
        </p:nvSpPr>
        <p:spPr>
          <a:xfrm>
            <a:off x="2986470" y="412369"/>
            <a:ext cx="488272" cy="30184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0810686-9B11-4A2F-8C43-31D0BA461D0E}"/>
              </a:ext>
            </a:extLst>
          </p:cNvPr>
          <p:cNvSpPr txBox="1"/>
          <p:nvPr/>
        </p:nvSpPr>
        <p:spPr>
          <a:xfrm>
            <a:off x="3825675" y="1461177"/>
            <a:ext cx="608647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이름 </a:t>
            </a:r>
            <a:r>
              <a:rPr lang="en-US" altLang="ko-KR" dirty="0"/>
              <a:t>: Switch 1 (L3 </a:t>
            </a:r>
            <a:r>
              <a:rPr lang="ko-KR" altLang="en-US" dirty="0"/>
              <a:t>스위치 </a:t>
            </a:r>
            <a:r>
              <a:rPr lang="en-US" altLang="ko-KR" dirty="0"/>
              <a:t>– </a:t>
            </a:r>
            <a:r>
              <a:rPr lang="ko-KR" altLang="en-US" dirty="0"/>
              <a:t>슬라이드 </a:t>
            </a:r>
            <a:r>
              <a:rPr lang="en-US" altLang="ko-KR" dirty="0"/>
              <a:t>2 </a:t>
            </a:r>
            <a:r>
              <a:rPr lang="ko-KR" altLang="en-US" dirty="0"/>
              <a:t>구성도</a:t>
            </a:r>
            <a:r>
              <a:rPr lang="en-US" altLang="ko-KR" dirty="0"/>
              <a:t>)</a:t>
            </a:r>
          </a:p>
          <a:p>
            <a:r>
              <a:rPr lang="ko-KR" altLang="en-US" dirty="0"/>
              <a:t>지역</a:t>
            </a:r>
            <a:r>
              <a:rPr lang="en-US" altLang="ko-KR" dirty="0"/>
              <a:t>(Zone) : default</a:t>
            </a:r>
          </a:p>
          <a:p>
            <a:r>
              <a:rPr lang="en-US" altLang="ko-KR" dirty="0"/>
              <a:t>IP </a:t>
            </a:r>
            <a:r>
              <a:rPr lang="ko-KR" altLang="en-US" dirty="0"/>
              <a:t>주소 </a:t>
            </a:r>
            <a:r>
              <a:rPr lang="en-US" altLang="ko-KR" dirty="0"/>
              <a:t>: 172.25.0.101 (L3 </a:t>
            </a:r>
            <a:r>
              <a:rPr lang="ko-KR" altLang="en-US" dirty="0"/>
              <a:t>스위치의 실제 주소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SNMPv2c </a:t>
            </a:r>
            <a:r>
              <a:rPr lang="ko-KR" altLang="en-US" dirty="0"/>
              <a:t>버전</a:t>
            </a:r>
            <a:r>
              <a:rPr lang="en-US" altLang="ko-KR" dirty="0"/>
              <a:t>, public</a:t>
            </a:r>
          </a:p>
          <a:p>
            <a:r>
              <a:rPr lang="en-US" altLang="ko-KR" dirty="0"/>
              <a:t>1</a:t>
            </a:r>
            <a:r>
              <a:rPr lang="ko-KR" altLang="en-US" dirty="0"/>
              <a:t>분마다 </a:t>
            </a:r>
            <a:r>
              <a:rPr lang="en-US" altLang="ko-KR" dirty="0"/>
              <a:t>Poll</a:t>
            </a:r>
            <a:endParaRPr lang="ko-KR" altLang="en-US" dirty="0"/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5E9D3908-CCA3-4815-BC9E-0CA4FE69EED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193" y="4005698"/>
            <a:ext cx="11405614" cy="1477328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B58115AD-3D1B-412C-86C2-AF39E004552F}"/>
              </a:ext>
            </a:extLst>
          </p:cNvPr>
          <p:cNvSpPr txBox="1"/>
          <p:nvPr/>
        </p:nvSpPr>
        <p:spPr>
          <a:xfrm>
            <a:off x="4940100" y="5384886"/>
            <a:ext cx="60864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적용 후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B4E26B4-7BFC-428D-A306-769F67092590}"/>
              </a:ext>
            </a:extLst>
          </p:cNvPr>
          <p:cNvSpPr txBox="1"/>
          <p:nvPr/>
        </p:nvSpPr>
        <p:spPr>
          <a:xfrm>
            <a:off x="4940100" y="6365553"/>
            <a:ext cx="60864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&lt;Host </a:t>
            </a:r>
            <a:r>
              <a:rPr lang="ko-KR" altLang="en-US" dirty="0"/>
              <a:t>지정</a:t>
            </a:r>
            <a:r>
              <a:rPr lang="en-US" altLang="ko-KR" dirty="0"/>
              <a:t>&gt;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063077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CDF6FD3B-8CFE-4AE5-9CEE-8F89A6111B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5108" y="157162"/>
            <a:ext cx="8999010" cy="5012228"/>
          </a:xfrm>
          <a:prstGeom prst="rect">
            <a:avLst/>
          </a:prstGeom>
        </p:spPr>
      </p:pic>
      <p:cxnSp>
        <p:nvCxnSpPr>
          <p:cNvPr id="4" name="직선 화살표 연결선 3">
            <a:extLst>
              <a:ext uri="{FF2B5EF4-FFF2-40B4-BE49-F238E27FC236}">
                <a16:creationId xmlns:a16="http://schemas.microsoft.com/office/drawing/2014/main" id="{C3D6F79B-962E-43FE-AA4B-142062BC7CD1}"/>
              </a:ext>
            </a:extLst>
          </p:cNvPr>
          <p:cNvCxnSpPr>
            <a:cxnSpLocks/>
          </p:cNvCxnSpPr>
          <p:nvPr/>
        </p:nvCxnSpPr>
        <p:spPr>
          <a:xfrm>
            <a:off x="4312708" y="806940"/>
            <a:ext cx="1162050" cy="35433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19DD2D9D-65E2-43B1-9631-AA5E2CD67446}"/>
              </a:ext>
            </a:extLst>
          </p:cNvPr>
          <p:cNvCxnSpPr>
            <a:cxnSpLocks/>
          </p:cNvCxnSpPr>
          <p:nvPr/>
        </p:nvCxnSpPr>
        <p:spPr>
          <a:xfrm flipV="1">
            <a:off x="7634613" y="1578466"/>
            <a:ext cx="373795" cy="2838449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그림 9">
            <a:extLst>
              <a:ext uri="{FF2B5EF4-FFF2-40B4-BE49-F238E27FC236}">
                <a16:creationId xmlns:a16="http://schemas.microsoft.com/office/drawing/2014/main" id="{EEA1EA4E-1739-4A5F-9E66-B21A4881D9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082" y="157162"/>
            <a:ext cx="2555876" cy="3667125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AC60FE02-7129-4660-9549-35F696184502}"/>
              </a:ext>
            </a:extLst>
          </p:cNvPr>
          <p:cNvSpPr/>
          <p:nvPr/>
        </p:nvSpPr>
        <p:spPr>
          <a:xfrm>
            <a:off x="57882" y="1695449"/>
            <a:ext cx="2632076" cy="295275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화살표: 오른쪽 11">
            <a:extLst>
              <a:ext uri="{FF2B5EF4-FFF2-40B4-BE49-F238E27FC236}">
                <a16:creationId xmlns:a16="http://schemas.microsoft.com/office/drawing/2014/main" id="{8307FF76-EADE-4E8F-A537-C9DB8DE1C143}"/>
              </a:ext>
            </a:extLst>
          </p:cNvPr>
          <p:cNvSpPr/>
          <p:nvPr/>
        </p:nvSpPr>
        <p:spPr>
          <a:xfrm>
            <a:off x="2689958" y="1136269"/>
            <a:ext cx="488272" cy="30184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1561136-C15E-455F-AA36-F15E9221CDFB}"/>
              </a:ext>
            </a:extLst>
          </p:cNvPr>
          <p:cNvSpPr txBox="1"/>
          <p:nvPr/>
        </p:nvSpPr>
        <p:spPr>
          <a:xfrm>
            <a:off x="1008795" y="3896960"/>
            <a:ext cx="336232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&lt;Vlan10 </a:t>
            </a:r>
            <a:r>
              <a:rPr lang="ko-KR" altLang="en-US" dirty="0"/>
              <a:t>그래프 확인</a:t>
            </a:r>
            <a:r>
              <a:rPr lang="en-US" altLang="ko-KR" dirty="0"/>
              <a:t>&gt;</a:t>
            </a:r>
          </a:p>
          <a:p>
            <a:endParaRPr lang="en-US" altLang="ko-KR" dirty="0"/>
          </a:p>
          <a:p>
            <a:r>
              <a:rPr lang="en-US" altLang="ko-KR" dirty="0"/>
              <a:t>Interfaces -&gt;</a:t>
            </a:r>
          </a:p>
          <a:p>
            <a:r>
              <a:rPr lang="en-US" altLang="ko-KR" dirty="0"/>
              <a:t>Switch</a:t>
            </a:r>
            <a:r>
              <a:rPr lang="ko-KR" altLang="en-US" dirty="0"/>
              <a:t> </a:t>
            </a:r>
            <a:r>
              <a:rPr lang="en-US" altLang="ko-KR" dirty="0"/>
              <a:t>1</a:t>
            </a:r>
            <a:r>
              <a:rPr lang="ko-KR" altLang="en-US" dirty="0"/>
              <a:t> </a:t>
            </a:r>
            <a:r>
              <a:rPr lang="en-US" altLang="ko-KR" dirty="0"/>
              <a:t>Host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579310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B003CFDB-D1D7-4A4D-B430-3C308FB5A8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23850"/>
            <a:ext cx="12191418" cy="4162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99757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그림 20">
            <a:extLst>
              <a:ext uri="{FF2B5EF4-FFF2-40B4-BE49-F238E27FC236}">
                <a16:creationId xmlns:a16="http://schemas.microsoft.com/office/drawing/2014/main" id="{E63772B7-0C81-4CFE-A1F1-BDA60BA282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907" y="201908"/>
            <a:ext cx="7462176" cy="2643793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2F352AAE-A445-4C55-9E84-5FA7460E9636}"/>
              </a:ext>
            </a:extLst>
          </p:cNvPr>
          <p:cNvSpPr txBox="1"/>
          <p:nvPr/>
        </p:nvSpPr>
        <p:spPr>
          <a:xfrm>
            <a:off x="296907" y="2845701"/>
            <a:ext cx="1073259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/>
          </a:p>
          <a:p>
            <a:r>
              <a:rPr lang="en-US" altLang="ko-KR"/>
              <a:t>&lt;CentOS</a:t>
            </a:r>
            <a:r>
              <a:rPr lang="ko-KR" altLang="en-US"/>
              <a:t>에서 </a:t>
            </a:r>
            <a:r>
              <a:rPr lang="en-US" altLang="ko-KR" err="1"/>
              <a:t>openstack</a:t>
            </a:r>
            <a:r>
              <a:rPr lang="ko-KR" altLang="en-US"/>
              <a:t>에 접근할 때</a:t>
            </a:r>
            <a:r>
              <a:rPr lang="en-US" altLang="ko-KR"/>
              <a:t>&gt;</a:t>
            </a:r>
          </a:p>
          <a:p>
            <a:r>
              <a:rPr lang="en-US" altLang="ko-KR"/>
              <a:t>source </a:t>
            </a:r>
            <a:r>
              <a:rPr lang="en-US" altLang="ko-KR" err="1"/>
              <a:t>keystonerc_admin</a:t>
            </a:r>
            <a:r>
              <a:rPr lang="en-US" altLang="ko-KR"/>
              <a:t> (= . </a:t>
            </a:r>
            <a:r>
              <a:rPr lang="en-US" altLang="ko-KR" err="1"/>
              <a:t>keystonerc_admin</a:t>
            </a:r>
            <a:r>
              <a:rPr lang="ko-KR" altLang="en-US"/>
              <a:t>도 같은 기능을 함</a:t>
            </a:r>
            <a:r>
              <a:rPr lang="en-US" altLang="ko-KR"/>
              <a:t>)</a:t>
            </a:r>
          </a:p>
          <a:p>
            <a:endParaRPr lang="en-US" altLang="ko-KR"/>
          </a:p>
          <a:p>
            <a:r>
              <a:rPr lang="en-US" altLang="ko-KR" err="1"/>
              <a:t>keystonerc_admin</a:t>
            </a:r>
            <a:r>
              <a:rPr lang="en-US" altLang="ko-KR"/>
              <a:t> :</a:t>
            </a:r>
          </a:p>
          <a:p>
            <a:r>
              <a:rPr lang="en-US" altLang="ko-KR"/>
              <a:t>admin </a:t>
            </a:r>
            <a:r>
              <a:rPr lang="ko-KR" altLang="en-US"/>
              <a:t>권한으로 </a:t>
            </a:r>
            <a:r>
              <a:rPr lang="en-US" altLang="ko-KR" err="1"/>
              <a:t>openstack</a:t>
            </a:r>
            <a:r>
              <a:rPr lang="ko-KR" altLang="en-US"/>
              <a:t>에 접근하기 위한 자격 증명 토큰</a:t>
            </a:r>
            <a:endParaRPr lang="en-US" altLang="ko-KR"/>
          </a:p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23188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>
            <a:extLst>
              <a:ext uri="{FF2B5EF4-FFF2-40B4-BE49-F238E27FC236}">
                <a16:creationId xmlns:a16="http://schemas.microsoft.com/office/drawing/2014/main" id="{2F352AAE-A445-4C55-9E84-5FA7460E9636}"/>
              </a:ext>
            </a:extLst>
          </p:cNvPr>
          <p:cNvSpPr txBox="1"/>
          <p:nvPr/>
        </p:nvSpPr>
        <p:spPr>
          <a:xfrm>
            <a:off x="0" y="2551837"/>
            <a:ext cx="1073259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/>
          </a:p>
          <a:p>
            <a:r>
              <a:rPr lang="en-US" altLang="ko-KR"/>
              <a:t>&lt;CLI</a:t>
            </a:r>
            <a:r>
              <a:rPr lang="ko-KR" altLang="en-US"/>
              <a:t>에서 프로젝트 생성</a:t>
            </a:r>
            <a:r>
              <a:rPr lang="en-US" altLang="ko-KR"/>
              <a:t>&gt;</a:t>
            </a:r>
          </a:p>
          <a:p>
            <a:r>
              <a:rPr lang="en-US" altLang="ko-KR" err="1"/>
              <a:t>openstack</a:t>
            </a:r>
            <a:r>
              <a:rPr lang="ko-KR" altLang="en-US"/>
              <a:t> </a:t>
            </a:r>
            <a:r>
              <a:rPr lang="en-US" altLang="ko-KR"/>
              <a:t>project</a:t>
            </a:r>
            <a:r>
              <a:rPr lang="ko-KR" altLang="en-US"/>
              <a:t> </a:t>
            </a:r>
            <a:r>
              <a:rPr lang="en-US" altLang="ko-KR"/>
              <a:t>create --description</a:t>
            </a:r>
            <a:r>
              <a:rPr lang="ko-KR" altLang="en-US"/>
              <a:t> </a:t>
            </a:r>
            <a:r>
              <a:rPr lang="en-US" altLang="ko-KR"/>
              <a:t>(</a:t>
            </a:r>
            <a:r>
              <a:rPr lang="ko-KR" altLang="en-US"/>
              <a:t>프로젝트에 대한 설명</a:t>
            </a:r>
            <a:r>
              <a:rPr lang="en-US" altLang="ko-KR"/>
              <a:t>)</a:t>
            </a:r>
            <a:r>
              <a:rPr lang="ko-KR" altLang="en-US"/>
              <a:t> </a:t>
            </a:r>
            <a:r>
              <a:rPr lang="en-US" altLang="ko-KR"/>
              <a:t>(</a:t>
            </a:r>
            <a:r>
              <a:rPr lang="ko-KR" altLang="en-US"/>
              <a:t>프로젝트 이름</a:t>
            </a:r>
            <a:r>
              <a:rPr lang="en-US" altLang="ko-KR"/>
              <a:t>)</a:t>
            </a:r>
          </a:p>
          <a:p>
            <a:endParaRPr lang="en-US" altLang="ko-KR"/>
          </a:p>
          <a:p>
            <a:endParaRPr lang="en-US" altLang="ko-KR"/>
          </a:p>
          <a:p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9F7FA8CD-1E11-4193-8690-99A01A40C4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052048" cy="2651775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E558AE9A-10DA-4B97-BB9B-85F66824A0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86" y="3611916"/>
            <a:ext cx="4172451" cy="1948488"/>
          </a:xfrm>
          <a:prstGeom prst="rect">
            <a:avLst/>
          </a:prstGeom>
        </p:spPr>
      </p:pic>
      <p:cxnSp>
        <p:nvCxnSpPr>
          <p:cNvPr id="9" name="연결선: 꺾임 8">
            <a:extLst>
              <a:ext uri="{FF2B5EF4-FFF2-40B4-BE49-F238E27FC236}">
                <a16:creationId xmlns:a16="http://schemas.microsoft.com/office/drawing/2014/main" id="{7A6218B2-E481-47F4-BD2C-FA03FAC81119}"/>
              </a:ext>
            </a:extLst>
          </p:cNvPr>
          <p:cNvCxnSpPr>
            <a:cxnSpLocks/>
          </p:cNvCxnSpPr>
          <p:nvPr/>
        </p:nvCxnSpPr>
        <p:spPr>
          <a:xfrm rot="5400000">
            <a:off x="2349039" y="2826644"/>
            <a:ext cx="2102219" cy="656948"/>
          </a:xfrm>
          <a:prstGeom prst="bentConnector3">
            <a:avLst>
              <a:gd name="adj1" fmla="val 50000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84397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3DEA624-57B4-435D-AA2A-CD0E725D3A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8334376" cy="267498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6BD8EB7-F60F-4DB8-8109-53F5CDEC1094}"/>
              </a:ext>
            </a:extLst>
          </p:cNvPr>
          <p:cNvSpPr txBox="1"/>
          <p:nvPr/>
        </p:nvSpPr>
        <p:spPr>
          <a:xfrm>
            <a:off x="2" y="2782669"/>
            <a:ext cx="83343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&lt;user </a:t>
            </a:r>
            <a:r>
              <a:rPr lang="ko-KR" altLang="en-US"/>
              <a:t>생성</a:t>
            </a:r>
            <a:r>
              <a:rPr lang="en-US" altLang="ko-KR"/>
              <a:t>&gt;</a:t>
            </a:r>
          </a:p>
          <a:p>
            <a:r>
              <a:rPr lang="en-US" altLang="ko-KR" err="1"/>
              <a:t>openstack</a:t>
            </a:r>
            <a:r>
              <a:rPr lang="en-US" altLang="ko-KR"/>
              <a:t> user create --password-prompt (</a:t>
            </a:r>
            <a:r>
              <a:rPr lang="ko-KR" altLang="en-US"/>
              <a:t>새 </a:t>
            </a:r>
            <a:r>
              <a:rPr lang="en-US" altLang="ko-KR"/>
              <a:t>user </a:t>
            </a:r>
            <a:r>
              <a:rPr lang="ko-KR" altLang="en-US"/>
              <a:t>이름</a:t>
            </a:r>
            <a:r>
              <a:rPr lang="en-US" altLang="ko-KR"/>
              <a:t>)</a:t>
            </a:r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14E0347-917E-4AC0-9A2E-24476CBC2B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3536684"/>
            <a:ext cx="6588249" cy="2311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64332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9030F32F-FD65-448F-94C1-F95B0CCF6E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127011" cy="263674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771C3B0-242E-4CC3-8E9F-1862A7769BB9}"/>
              </a:ext>
            </a:extLst>
          </p:cNvPr>
          <p:cNvSpPr txBox="1"/>
          <p:nvPr/>
        </p:nvSpPr>
        <p:spPr>
          <a:xfrm>
            <a:off x="2944" y="3113709"/>
            <a:ext cx="1154853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err="1"/>
              <a:t>openstack</a:t>
            </a:r>
            <a:r>
              <a:rPr lang="en-US" altLang="ko-KR"/>
              <a:t> role add --project (</a:t>
            </a:r>
            <a:r>
              <a:rPr lang="ko-KR" altLang="en-US"/>
              <a:t>기존 프로젝트 이름</a:t>
            </a:r>
            <a:r>
              <a:rPr lang="en-US" altLang="ko-KR"/>
              <a:t>) --user (</a:t>
            </a:r>
            <a:r>
              <a:rPr lang="ko-KR" altLang="en-US" err="1"/>
              <a:t>유저명</a:t>
            </a:r>
            <a:r>
              <a:rPr lang="en-US" altLang="ko-KR"/>
              <a:t>) (</a:t>
            </a:r>
            <a:r>
              <a:rPr lang="ko-KR" altLang="en-US" err="1"/>
              <a:t>역할명</a:t>
            </a:r>
            <a:r>
              <a:rPr lang="en-US" altLang="ko-KR"/>
              <a:t>)</a:t>
            </a:r>
          </a:p>
          <a:p>
            <a:r>
              <a:rPr lang="en-US" altLang="ko-KR"/>
              <a:t>-&gt; </a:t>
            </a:r>
            <a:r>
              <a:rPr lang="en-US" altLang="ko-KR" err="1"/>
              <a:t>openstack</a:t>
            </a:r>
            <a:r>
              <a:rPr lang="ko-KR" altLang="en-US"/>
              <a:t>내에 유저는 최소 </a:t>
            </a:r>
            <a:r>
              <a:rPr lang="en-US" altLang="ko-KR"/>
              <a:t>1</a:t>
            </a:r>
            <a:r>
              <a:rPr lang="ko-KR" altLang="en-US"/>
              <a:t>개 이상의 역할과 프로젝트가 할당되어야 한다</a:t>
            </a:r>
            <a:r>
              <a:rPr lang="en-US" altLang="ko-KR"/>
              <a:t>.</a:t>
            </a:r>
          </a:p>
          <a:p>
            <a:r>
              <a:rPr lang="ko-KR" altLang="en-US"/>
              <a:t>역할 지정이 안된 유저는 프로젝트 접근 불가</a:t>
            </a:r>
            <a:endParaRPr lang="en-US" altLang="ko-KR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AA1F3297-F3C7-4F6C-88F0-C32B059A75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099201"/>
            <a:ext cx="12170195" cy="299492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FB7DDEE9-CAE4-4462-A0BF-19331F5B22F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3015" y="-19765"/>
            <a:ext cx="6927180" cy="2979678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96EBC753-CB88-4C5F-AF66-408AA257D237}"/>
              </a:ext>
            </a:extLst>
          </p:cNvPr>
          <p:cNvSpPr/>
          <p:nvPr/>
        </p:nvSpPr>
        <p:spPr>
          <a:xfrm>
            <a:off x="409575" y="5514975"/>
            <a:ext cx="10648950" cy="314325"/>
          </a:xfrm>
          <a:prstGeom prst="rect">
            <a:avLst/>
          </a:prstGeom>
          <a:solidFill>
            <a:srgbClr val="FFFF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5D3C7E7-68F7-4EBA-AD67-B7409DF3BB93}"/>
              </a:ext>
            </a:extLst>
          </p:cNvPr>
          <p:cNvSpPr/>
          <p:nvPr/>
        </p:nvSpPr>
        <p:spPr>
          <a:xfrm>
            <a:off x="11052808" y="6039663"/>
            <a:ext cx="997351" cy="314325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AF8D24CE-3908-4AE3-9ED7-2DAB0ABC36AA}"/>
              </a:ext>
            </a:extLst>
          </p:cNvPr>
          <p:cNvCxnSpPr>
            <a:cxnSpLocks/>
            <a:stCxn id="10" idx="0"/>
          </p:cNvCxnSpPr>
          <p:nvPr/>
        </p:nvCxnSpPr>
        <p:spPr>
          <a:xfrm flipH="1" flipV="1">
            <a:off x="10733104" y="2263807"/>
            <a:ext cx="818380" cy="3775856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25320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C96C467-7741-4675-AF57-F3D84C5139BB}"/>
              </a:ext>
            </a:extLst>
          </p:cNvPr>
          <p:cNvSpPr txBox="1"/>
          <p:nvPr/>
        </p:nvSpPr>
        <p:spPr>
          <a:xfrm>
            <a:off x="159798" y="0"/>
            <a:ext cx="31160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Glance </a:t>
            </a:r>
            <a:r>
              <a:rPr lang="ko-KR" altLang="en-US"/>
              <a:t>서비스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0B0A66E-28D7-425C-91B4-0FDB6A6222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69332"/>
            <a:ext cx="12136452" cy="205001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159D80F-081C-4686-BFBD-E203AE129D0C}"/>
              </a:ext>
            </a:extLst>
          </p:cNvPr>
          <p:cNvSpPr txBox="1"/>
          <p:nvPr/>
        </p:nvSpPr>
        <p:spPr>
          <a:xfrm>
            <a:off x="159798" y="2705100"/>
            <a:ext cx="118724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err="1"/>
              <a:t>openstack</a:t>
            </a:r>
            <a:r>
              <a:rPr lang="ko-KR" altLang="en-US"/>
              <a:t> </a:t>
            </a:r>
            <a:r>
              <a:rPr lang="en-US" altLang="ko-KR"/>
              <a:t>image</a:t>
            </a:r>
            <a:r>
              <a:rPr lang="ko-KR" altLang="en-US"/>
              <a:t> </a:t>
            </a:r>
            <a:r>
              <a:rPr lang="en-US" altLang="ko-KR"/>
              <a:t>create --file=(</a:t>
            </a:r>
            <a:r>
              <a:rPr lang="ko-KR" altLang="en-US"/>
              <a:t>이미지 파일 경로</a:t>
            </a:r>
            <a:r>
              <a:rPr lang="en-US" altLang="ko-KR"/>
              <a:t>) --disk-format (</a:t>
            </a:r>
            <a:r>
              <a:rPr lang="ko-KR" altLang="en-US"/>
              <a:t>포맷</a:t>
            </a:r>
            <a:r>
              <a:rPr lang="en-US" altLang="ko-KR"/>
              <a:t> </a:t>
            </a:r>
            <a:r>
              <a:rPr lang="ko-KR" altLang="en-US"/>
              <a:t>이름</a:t>
            </a:r>
            <a:r>
              <a:rPr lang="en-US" altLang="ko-KR"/>
              <a:t>) </a:t>
            </a:r>
          </a:p>
          <a:p>
            <a:r>
              <a:rPr lang="en-US" altLang="ko-KR"/>
              <a:t>--public --unprotected (</a:t>
            </a:r>
            <a:r>
              <a:rPr lang="ko-KR" altLang="en-US"/>
              <a:t>새 이미지 이름</a:t>
            </a:r>
            <a:r>
              <a:rPr lang="en-US" altLang="ko-KR"/>
              <a:t>)</a:t>
            </a:r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1DC2E3D-B8BB-48FA-9550-64B5B6B75E2D}"/>
              </a:ext>
            </a:extLst>
          </p:cNvPr>
          <p:cNvSpPr txBox="1"/>
          <p:nvPr/>
        </p:nvSpPr>
        <p:spPr>
          <a:xfrm>
            <a:off x="159798" y="3675355"/>
            <a:ext cx="83538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이미지 스토리지가 가득 찼기 때문에 등록 불가</a:t>
            </a:r>
          </a:p>
        </p:txBody>
      </p:sp>
    </p:spTree>
    <p:extLst>
      <p:ext uri="{BB962C8B-B14F-4D97-AF65-F5344CB8AC3E}">
        <p14:creationId xmlns:p14="http://schemas.microsoft.com/office/powerpoint/2010/main" val="201001667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9C52150-4CFA-4D99-B064-DF1A7EA17057}"/>
              </a:ext>
            </a:extLst>
          </p:cNvPr>
          <p:cNvSpPr txBox="1"/>
          <p:nvPr/>
        </p:nvSpPr>
        <p:spPr>
          <a:xfrm>
            <a:off x="159798" y="0"/>
            <a:ext cx="31160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Network(Neutron) </a:t>
            </a:r>
            <a:r>
              <a:rPr lang="ko-KR" altLang="en-US"/>
              <a:t>서비스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48823E7-AD03-4D1F-A960-6D5A300060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797" y="479941"/>
            <a:ext cx="6680967" cy="604468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8BB1F02-0F31-4F01-AEA8-28D383265D0D}"/>
              </a:ext>
            </a:extLst>
          </p:cNvPr>
          <p:cNvSpPr txBox="1"/>
          <p:nvPr/>
        </p:nvSpPr>
        <p:spPr>
          <a:xfrm>
            <a:off x="7239000" y="571500"/>
            <a:ext cx="401955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사용자 </a:t>
            </a:r>
            <a:r>
              <a:rPr lang="en-US" altLang="ko-KR"/>
              <a:t>: </a:t>
            </a:r>
            <a:r>
              <a:rPr lang="en-US" altLang="ko-KR" err="1"/>
              <a:t>kim</a:t>
            </a:r>
            <a:endParaRPr lang="en-US" altLang="ko-KR"/>
          </a:p>
          <a:p>
            <a:r>
              <a:rPr lang="ko-KR" altLang="en-US"/>
              <a:t>프로젝트 </a:t>
            </a:r>
            <a:r>
              <a:rPr lang="en-US" altLang="ko-KR"/>
              <a:t>: </a:t>
            </a:r>
            <a:r>
              <a:rPr lang="en-US" altLang="ko-KR" err="1"/>
              <a:t>project_kim</a:t>
            </a:r>
            <a:endParaRPr lang="en-US" altLang="ko-KR"/>
          </a:p>
          <a:p>
            <a:endParaRPr lang="en-US" altLang="ko-KR"/>
          </a:p>
          <a:p>
            <a:r>
              <a:rPr lang="ko-KR" altLang="en-US"/>
              <a:t>에 대한 내부 네트워크 생성</a:t>
            </a:r>
            <a:endParaRPr lang="en-US" altLang="ko-KR"/>
          </a:p>
          <a:p>
            <a:endParaRPr lang="en-US" altLang="ko-KR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/>
              <a:t>외부 네트워크는 </a:t>
            </a:r>
            <a:r>
              <a:rPr lang="en-US" altLang="ko-KR"/>
              <a:t>admin</a:t>
            </a:r>
            <a:r>
              <a:rPr lang="ko-KR" altLang="en-US"/>
              <a:t>에서 관리하기 때문에 유저는 내부 네트워크만 생성해도 됨</a:t>
            </a:r>
            <a:r>
              <a:rPr lang="en-US" altLang="ko-KR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/>
          </a:p>
          <a:p>
            <a:r>
              <a:rPr lang="en-US" altLang="ko-KR" err="1"/>
              <a:t>Openstack</a:t>
            </a:r>
            <a:r>
              <a:rPr lang="ko-KR" altLang="en-US"/>
              <a:t> </a:t>
            </a:r>
            <a:r>
              <a:rPr lang="en-US" altLang="ko-KR"/>
              <a:t>network</a:t>
            </a:r>
            <a:r>
              <a:rPr lang="ko-KR" altLang="en-US"/>
              <a:t> </a:t>
            </a:r>
            <a:r>
              <a:rPr lang="en-US" altLang="ko-KR"/>
              <a:t>create</a:t>
            </a:r>
            <a:r>
              <a:rPr lang="ko-KR" altLang="en-US"/>
              <a:t>로</a:t>
            </a:r>
            <a:endParaRPr lang="en-US" altLang="ko-KR"/>
          </a:p>
          <a:p>
            <a:r>
              <a:rPr lang="ko-KR" altLang="en-US"/>
              <a:t>만든 네트워크는</a:t>
            </a:r>
            <a:endParaRPr lang="en-US" altLang="ko-KR"/>
          </a:p>
          <a:p>
            <a:r>
              <a:rPr lang="ko-KR" altLang="en-US"/>
              <a:t>내부 네트워크로 취급된다</a:t>
            </a:r>
            <a:r>
              <a:rPr lang="en-US" altLang="ko-KR"/>
              <a:t>.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46EB75C-37B6-4212-A1B4-83EA71F1BA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2350" y="4482415"/>
            <a:ext cx="6104149" cy="1150720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96E306B7-7158-42F8-BFD0-5AEC229CE1EF}"/>
              </a:ext>
            </a:extLst>
          </p:cNvPr>
          <p:cNvSpPr/>
          <p:nvPr/>
        </p:nvSpPr>
        <p:spPr>
          <a:xfrm>
            <a:off x="5992427" y="4847208"/>
            <a:ext cx="5704273" cy="343917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639044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3CF5300B-3666-484E-9829-CBDC48C266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695" y="394543"/>
            <a:ext cx="11880610" cy="66299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7ACD783-45C8-446D-87BA-D8E28275E698}"/>
              </a:ext>
            </a:extLst>
          </p:cNvPr>
          <p:cNvSpPr txBox="1"/>
          <p:nvPr/>
        </p:nvSpPr>
        <p:spPr>
          <a:xfrm>
            <a:off x="1918721" y="1139246"/>
            <a:ext cx="101175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외부 네트워크는 생성 불가능</a:t>
            </a:r>
            <a:endParaRPr lang="en-US" altLang="ko-KR"/>
          </a:p>
          <a:p>
            <a:r>
              <a:rPr lang="en-US" altLang="ko-KR"/>
              <a:t>- </a:t>
            </a:r>
            <a:r>
              <a:rPr lang="ko-KR" altLang="en-US"/>
              <a:t>유저가 </a:t>
            </a:r>
            <a:r>
              <a:rPr lang="en-US" altLang="ko-KR"/>
              <a:t>admin</a:t>
            </a:r>
            <a:r>
              <a:rPr lang="ko-KR" altLang="en-US"/>
              <a:t>을 통해 외부 네트워크에 접속하기 때문에 유저 내에서 개설 할 이유가 없음</a:t>
            </a:r>
            <a:r>
              <a:rPr lang="en-US" altLang="ko-KR"/>
              <a:t>.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5D7CB32-9756-4013-A4E9-917A3B7FB810}"/>
              </a:ext>
            </a:extLst>
          </p:cNvPr>
          <p:cNvSpPr/>
          <p:nvPr/>
        </p:nvSpPr>
        <p:spPr>
          <a:xfrm>
            <a:off x="544683" y="3429001"/>
            <a:ext cx="1941066" cy="189760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외부 네트워크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F37E2219-B747-4E93-95E3-59F3BBDE83E9}"/>
              </a:ext>
            </a:extLst>
          </p:cNvPr>
          <p:cNvSpPr/>
          <p:nvPr/>
        </p:nvSpPr>
        <p:spPr>
          <a:xfrm>
            <a:off x="5125466" y="2680856"/>
            <a:ext cx="1941067" cy="189760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내부 네트워크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7485E4ED-AC0E-4473-861B-281DD5DB35C4}"/>
              </a:ext>
            </a:extLst>
          </p:cNvPr>
          <p:cNvSpPr/>
          <p:nvPr/>
        </p:nvSpPr>
        <p:spPr>
          <a:xfrm>
            <a:off x="304800" y="2423605"/>
            <a:ext cx="2394012" cy="3340224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43DEF02-3176-46F0-A8A6-3B7F50E339E5}"/>
              </a:ext>
            </a:extLst>
          </p:cNvPr>
          <p:cNvSpPr txBox="1"/>
          <p:nvPr/>
        </p:nvSpPr>
        <p:spPr>
          <a:xfrm>
            <a:off x="1166119" y="2541243"/>
            <a:ext cx="13196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admin</a:t>
            </a:r>
            <a:endParaRPr lang="ko-KR" altLang="en-US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DB28A606-2F9A-4B18-8ECC-D1C4B536273F}"/>
              </a:ext>
            </a:extLst>
          </p:cNvPr>
          <p:cNvSpPr/>
          <p:nvPr/>
        </p:nvSpPr>
        <p:spPr>
          <a:xfrm>
            <a:off x="4898994" y="1809750"/>
            <a:ext cx="2394012" cy="3340224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A932D24-EA82-4E6C-9E31-5D450A24E0E2}"/>
              </a:ext>
            </a:extLst>
          </p:cNvPr>
          <p:cNvSpPr txBox="1"/>
          <p:nvPr/>
        </p:nvSpPr>
        <p:spPr>
          <a:xfrm>
            <a:off x="5760313" y="1927388"/>
            <a:ext cx="13196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err="1"/>
              <a:t>kim</a:t>
            </a:r>
            <a:endParaRPr lang="ko-KR" altLang="en-US"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10A998B8-34CC-4DA8-AC26-115A0AD5E3B0}"/>
              </a:ext>
            </a:extLst>
          </p:cNvPr>
          <p:cNvSpPr/>
          <p:nvPr/>
        </p:nvSpPr>
        <p:spPr>
          <a:xfrm>
            <a:off x="3581347" y="5876346"/>
            <a:ext cx="972881" cy="95109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내부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7D32D288-2F66-4E32-99A3-B0BDFC7FA3E5}"/>
              </a:ext>
            </a:extLst>
          </p:cNvPr>
          <p:cNvSpPr/>
          <p:nvPr/>
        </p:nvSpPr>
        <p:spPr>
          <a:xfrm>
            <a:off x="3467838" y="5220471"/>
            <a:ext cx="1199901" cy="1674151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A495C2B-A27D-41D6-ACE1-C1E974D0A081}"/>
              </a:ext>
            </a:extLst>
          </p:cNvPr>
          <p:cNvSpPr txBox="1"/>
          <p:nvPr/>
        </p:nvSpPr>
        <p:spPr>
          <a:xfrm>
            <a:off x="3805836" y="5363743"/>
            <a:ext cx="13196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user</a:t>
            </a:r>
            <a:endParaRPr lang="ko-KR" altLang="en-US"/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4DEBF81A-17EA-436F-90F9-58F1F88AE287}"/>
              </a:ext>
            </a:extLst>
          </p:cNvPr>
          <p:cNvCxnSpPr>
            <a:stCxn id="5" idx="1"/>
            <a:endCxn id="4" idx="3"/>
          </p:cNvCxnSpPr>
          <p:nvPr/>
        </p:nvCxnSpPr>
        <p:spPr>
          <a:xfrm flipH="1">
            <a:off x="2485749" y="3629657"/>
            <a:ext cx="2639717" cy="74814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3275F829-B9F5-4246-A321-36CCFC681EC9}"/>
              </a:ext>
            </a:extLst>
          </p:cNvPr>
          <p:cNvCxnSpPr>
            <a:stCxn id="10" idx="1"/>
            <a:endCxn id="4" idx="3"/>
          </p:cNvCxnSpPr>
          <p:nvPr/>
        </p:nvCxnSpPr>
        <p:spPr>
          <a:xfrm flipH="1" flipV="1">
            <a:off x="2485749" y="4377802"/>
            <a:ext cx="1095598" cy="197409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142632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BFE9B2B8-941A-4A60-9E61-D66AB9F532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080" y="89269"/>
            <a:ext cx="7262489" cy="612701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7A80787-E358-496F-90B7-5C9A4EDF42BA}"/>
              </a:ext>
            </a:extLst>
          </p:cNvPr>
          <p:cNvSpPr txBox="1"/>
          <p:nvPr/>
        </p:nvSpPr>
        <p:spPr>
          <a:xfrm>
            <a:off x="7677149" y="628650"/>
            <a:ext cx="402907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err="1"/>
              <a:t>openstack</a:t>
            </a:r>
            <a:r>
              <a:rPr lang="en-US" altLang="ko-KR"/>
              <a:t> network create --internal (</a:t>
            </a:r>
            <a:r>
              <a:rPr lang="ko-KR" altLang="en-US"/>
              <a:t>네트워크 이름</a:t>
            </a:r>
            <a:r>
              <a:rPr lang="en-US" altLang="ko-KR"/>
              <a:t>)</a:t>
            </a:r>
          </a:p>
          <a:p>
            <a:endParaRPr lang="en-US" altLang="ko-KR"/>
          </a:p>
          <a:p>
            <a:r>
              <a:rPr lang="ko-KR" altLang="en-US"/>
              <a:t>로 만든 네트워크 역시</a:t>
            </a:r>
            <a:endParaRPr lang="en-US" altLang="ko-KR"/>
          </a:p>
          <a:p>
            <a:r>
              <a:rPr lang="ko-KR" altLang="en-US"/>
              <a:t>내부 네트워크로 취급됨</a:t>
            </a:r>
            <a:r>
              <a:rPr lang="en-US" altLang="ko-KR"/>
              <a:t>.</a:t>
            </a:r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85A4EB7-100A-476B-9E82-CB5818F52F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8134" y="3283384"/>
            <a:ext cx="7891786" cy="1548789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7A48AE22-F852-40DD-AC79-F02981DEE234}"/>
              </a:ext>
            </a:extLst>
          </p:cNvPr>
          <p:cNvSpPr/>
          <p:nvPr/>
        </p:nvSpPr>
        <p:spPr>
          <a:xfrm>
            <a:off x="4522432" y="3637662"/>
            <a:ext cx="5297843" cy="781938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741692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DC7551AC-5EF0-4BC4-B999-4308564274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192210" cy="419136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37B332E-75B8-4FC1-91BF-A071774DAD55}"/>
              </a:ext>
            </a:extLst>
          </p:cNvPr>
          <p:cNvSpPr txBox="1"/>
          <p:nvPr/>
        </p:nvSpPr>
        <p:spPr>
          <a:xfrm>
            <a:off x="66675" y="4352925"/>
            <a:ext cx="100869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openstack</a:t>
            </a:r>
            <a:r>
              <a:rPr lang="ko-KR" altLang="en-US"/>
              <a:t> </a:t>
            </a:r>
            <a:r>
              <a:rPr lang="en-US" altLang="ko-KR"/>
              <a:t>subnet</a:t>
            </a:r>
            <a:r>
              <a:rPr lang="ko-KR" altLang="en-US"/>
              <a:t> </a:t>
            </a:r>
            <a:r>
              <a:rPr lang="en-US" altLang="ko-KR"/>
              <a:t>create</a:t>
            </a:r>
            <a:r>
              <a:rPr lang="ko-KR" altLang="en-US"/>
              <a:t> </a:t>
            </a:r>
            <a:r>
              <a:rPr lang="en-US" altLang="ko-KR"/>
              <a:t>–</a:t>
            </a:r>
            <a:r>
              <a:rPr lang="ko-KR" altLang="en-US"/>
              <a:t>오체</a:t>
            </a:r>
            <a:r>
              <a:rPr lang="en-US" altLang="ko-KR"/>
              <a:t> –subnet-range 10.0.0.0/24 --network (</a:t>
            </a:r>
            <a:r>
              <a:rPr lang="ko-KR" altLang="en-US"/>
              <a:t>연결한 네트워크 이름</a:t>
            </a:r>
            <a:r>
              <a:rPr lang="en-US" altLang="ko-KR"/>
              <a:t>) (</a:t>
            </a:r>
            <a:r>
              <a:rPr lang="ko-KR" altLang="en-US"/>
              <a:t>등록할 서브넷 이름</a:t>
            </a:r>
            <a:r>
              <a:rPr lang="en-US" altLang="ko-KR"/>
              <a:t>) </a:t>
            </a:r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DD786B5-0C6F-464D-B77C-E9BF994FC3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623" y="5086316"/>
            <a:ext cx="9121391" cy="1200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658834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FDB7F6D8-AFF6-4EF8-8291-0AE351B7BC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1"/>
            <a:ext cx="9046175" cy="532447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A01F560-7160-4261-81FE-171B1CCB13A4}"/>
              </a:ext>
            </a:extLst>
          </p:cNvPr>
          <p:cNvSpPr txBox="1"/>
          <p:nvPr/>
        </p:nvSpPr>
        <p:spPr>
          <a:xfrm>
            <a:off x="142875" y="5343524"/>
            <a:ext cx="744855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Openstack router set --external-gateway external01 router_kim</a:t>
            </a:r>
          </a:p>
          <a:p>
            <a:r>
              <a:rPr lang="ko-KR" altLang="en-US"/>
              <a:t>생성된 라우터를 외부 네트워크의 게이트웨이와 연결</a:t>
            </a:r>
            <a:endParaRPr lang="en-US" altLang="ko-KR"/>
          </a:p>
          <a:p>
            <a:r>
              <a:rPr lang="en-US" altLang="ko-KR"/>
              <a:t>Openstack router add subnet router_kim network_kim_subnet1</a:t>
            </a:r>
          </a:p>
          <a:p>
            <a:r>
              <a:rPr lang="ko-KR" altLang="en-US"/>
              <a:t>생성된 라우터를 내부 네트워크와 연결</a:t>
            </a:r>
          </a:p>
        </p:txBody>
      </p:sp>
    </p:spTree>
    <p:extLst>
      <p:ext uri="{BB962C8B-B14F-4D97-AF65-F5344CB8AC3E}">
        <p14:creationId xmlns:p14="http://schemas.microsoft.com/office/powerpoint/2010/main" val="241351266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68925E4A-D6CA-436E-84E0-CF3E3B64C7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914" y="-180975"/>
            <a:ext cx="3046172" cy="715587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7593299-F0E9-4BAD-B5F9-F9465E209166}"/>
              </a:ext>
            </a:extLst>
          </p:cNvPr>
          <p:cNvSpPr txBox="1"/>
          <p:nvPr/>
        </p:nvSpPr>
        <p:spPr>
          <a:xfrm>
            <a:off x="3443287" y="3244334"/>
            <a:ext cx="20288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외부 네트워크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260AFDA-F193-4853-82A8-00A1C56806D6}"/>
              </a:ext>
            </a:extLst>
          </p:cNvPr>
          <p:cNvSpPr txBox="1"/>
          <p:nvPr/>
        </p:nvSpPr>
        <p:spPr>
          <a:xfrm>
            <a:off x="7143750" y="3244334"/>
            <a:ext cx="20288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내부 네트워크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4DAA54C-4C03-4078-8468-BFB19CD0245F}"/>
              </a:ext>
            </a:extLst>
          </p:cNvPr>
          <p:cNvSpPr txBox="1"/>
          <p:nvPr/>
        </p:nvSpPr>
        <p:spPr>
          <a:xfrm>
            <a:off x="5657393" y="640318"/>
            <a:ext cx="2447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라우터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2266146-3AC9-43EB-82E4-D2B392ABE196}"/>
              </a:ext>
            </a:extLst>
          </p:cNvPr>
          <p:cNvSpPr txBox="1"/>
          <p:nvPr/>
        </p:nvSpPr>
        <p:spPr>
          <a:xfrm>
            <a:off x="561975" y="1000860"/>
            <a:ext cx="74485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Openstack router set --external-gateway </a:t>
            </a:r>
          </a:p>
          <a:p>
            <a:r>
              <a:rPr lang="en-US" altLang="ko-KR"/>
              <a:t>external01 router_kim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EC548AC-6AA6-43A7-95F1-51A2CDF84156}"/>
              </a:ext>
            </a:extLst>
          </p:cNvPr>
          <p:cNvSpPr txBox="1"/>
          <p:nvPr/>
        </p:nvSpPr>
        <p:spPr>
          <a:xfrm>
            <a:off x="7077075" y="954694"/>
            <a:ext cx="74485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Openstack router add subnet router_kim </a:t>
            </a:r>
          </a:p>
          <a:p>
            <a:r>
              <a:rPr lang="en-US" altLang="ko-KR"/>
              <a:t>network_kim_subnet1</a:t>
            </a:r>
          </a:p>
        </p:txBody>
      </p:sp>
    </p:spTree>
    <p:extLst>
      <p:ext uri="{BB962C8B-B14F-4D97-AF65-F5344CB8AC3E}">
        <p14:creationId xmlns:p14="http://schemas.microsoft.com/office/powerpoint/2010/main" val="57054102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E22B6307-4612-4B9E-B031-B486DD90E0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528541" cy="4733925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902D9238-3459-4D9F-A5F9-870465289C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33559"/>
            <a:ext cx="9877425" cy="185776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10A2EB8-DDC4-4230-B280-452925529613}"/>
              </a:ext>
            </a:extLst>
          </p:cNvPr>
          <p:cNvSpPr txBox="1"/>
          <p:nvPr/>
        </p:nvSpPr>
        <p:spPr>
          <a:xfrm>
            <a:off x="5013691" y="734692"/>
            <a:ext cx="45148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>
                <a:solidFill>
                  <a:schemeClr val="bg1"/>
                </a:solidFill>
              </a:rPr>
              <a:t>Openstack</a:t>
            </a:r>
            <a:r>
              <a:rPr lang="ko-KR" altLang="en-US">
                <a:solidFill>
                  <a:schemeClr val="bg1"/>
                </a:solidFill>
              </a:rPr>
              <a:t> </a:t>
            </a:r>
            <a:r>
              <a:rPr lang="en-US" altLang="ko-KR">
                <a:solidFill>
                  <a:schemeClr val="bg1"/>
                </a:solidFill>
              </a:rPr>
              <a:t>floating</a:t>
            </a:r>
            <a:r>
              <a:rPr lang="ko-KR" altLang="en-US">
                <a:solidFill>
                  <a:schemeClr val="bg1"/>
                </a:solidFill>
              </a:rPr>
              <a:t> </a:t>
            </a:r>
            <a:r>
              <a:rPr lang="en-US" altLang="ko-KR">
                <a:solidFill>
                  <a:schemeClr val="bg1"/>
                </a:solidFill>
              </a:rPr>
              <a:t>ip</a:t>
            </a:r>
            <a:r>
              <a:rPr lang="ko-KR" altLang="en-US">
                <a:solidFill>
                  <a:schemeClr val="bg1"/>
                </a:solidFill>
              </a:rPr>
              <a:t> </a:t>
            </a:r>
            <a:r>
              <a:rPr lang="en-US" altLang="ko-KR">
                <a:solidFill>
                  <a:schemeClr val="bg1"/>
                </a:solidFill>
              </a:rPr>
              <a:t>create</a:t>
            </a:r>
            <a:r>
              <a:rPr lang="ko-KR" altLang="en-US">
                <a:solidFill>
                  <a:schemeClr val="bg1"/>
                </a:solidFill>
              </a:rPr>
              <a:t> </a:t>
            </a:r>
            <a:r>
              <a:rPr lang="en-US" altLang="ko-KR">
                <a:solidFill>
                  <a:schemeClr val="bg1"/>
                </a:solidFill>
              </a:rPr>
              <a:t>external01</a:t>
            </a:r>
          </a:p>
          <a:p>
            <a:r>
              <a:rPr lang="ko-KR" altLang="en-US">
                <a:solidFill>
                  <a:schemeClr val="bg1"/>
                </a:solidFill>
              </a:rPr>
              <a:t>플로팅 </a:t>
            </a:r>
            <a:r>
              <a:rPr lang="en-US" altLang="ko-KR">
                <a:solidFill>
                  <a:schemeClr val="bg1"/>
                </a:solidFill>
              </a:rPr>
              <a:t>IP </a:t>
            </a:r>
            <a:r>
              <a:rPr lang="ko-KR" altLang="en-US">
                <a:solidFill>
                  <a:schemeClr val="bg1"/>
                </a:solidFill>
              </a:rPr>
              <a:t>생성</a:t>
            </a:r>
          </a:p>
        </p:txBody>
      </p:sp>
    </p:spTree>
    <p:extLst>
      <p:ext uri="{BB962C8B-B14F-4D97-AF65-F5344CB8AC3E}">
        <p14:creationId xmlns:p14="http://schemas.microsoft.com/office/powerpoint/2010/main" val="286145676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654B5145-0E39-49A5-A751-DC274A6B19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230355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DB83C37-B17B-463A-8F24-6B3AF5B001ED}"/>
              </a:ext>
            </a:extLst>
          </p:cNvPr>
          <p:cNvSpPr txBox="1"/>
          <p:nvPr/>
        </p:nvSpPr>
        <p:spPr>
          <a:xfrm>
            <a:off x="6241002" y="2167373"/>
            <a:ext cx="7029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openstack</a:t>
            </a:r>
            <a:r>
              <a:rPr lang="ko-KR" altLang="en-US"/>
              <a:t> </a:t>
            </a:r>
            <a:r>
              <a:rPr lang="en-US" altLang="ko-KR"/>
              <a:t>security group create “(</a:t>
            </a:r>
            <a:r>
              <a:rPr lang="ko-KR" altLang="en-US"/>
              <a:t>새 보안 그룹 이름</a:t>
            </a:r>
            <a:r>
              <a:rPr lang="en-US" altLang="ko-KR"/>
              <a:t>)”</a:t>
            </a:r>
            <a:endParaRPr lang="ko-KR" altLang="en-US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4C9E374A-E521-4CD7-AEE9-EB07BAE430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91" y="2475042"/>
            <a:ext cx="7994073" cy="4709568"/>
          </a:xfrm>
          <a:prstGeom prst="rect">
            <a:avLst/>
          </a:prstGeom>
        </p:spPr>
      </p:pic>
      <p:grpSp>
        <p:nvGrpSpPr>
          <p:cNvPr id="13" name="그룹 12">
            <a:extLst>
              <a:ext uri="{FF2B5EF4-FFF2-40B4-BE49-F238E27FC236}">
                <a16:creationId xmlns:a16="http://schemas.microsoft.com/office/drawing/2014/main" id="{09832B8F-1D12-4A3F-8B1B-369F5633B6FD}"/>
              </a:ext>
            </a:extLst>
          </p:cNvPr>
          <p:cNvGrpSpPr/>
          <p:nvPr/>
        </p:nvGrpSpPr>
        <p:grpSpPr>
          <a:xfrm>
            <a:off x="73891" y="2746992"/>
            <a:ext cx="9373412" cy="569179"/>
            <a:chOff x="73891" y="2746992"/>
            <a:chExt cx="9373412" cy="569179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75978E00-9DF9-43E2-8D33-491D50E283C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3891" y="2746992"/>
              <a:ext cx="9320068" cy="205758"/>
            </a:xfrm>
            <a:prstGeom prst="rect">
              <a:avLst/>
            </a:prstGeom>
          </p:spPr>
        </p:pic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FDC6F27A-F68A-4B67-BD72-4D605B905C3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3891" y="2942038"/>
              <a:ext cx="9373412" cy="220999"/>
            </a:xfrm>
            <a:prstGeom prst="rect">
              <a:avLst/>
            </a:prstGeom>
          </p:spPr>
        </p:pic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A2E2E184-02B3-4D12-A8CE-B4DE8118A34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3891" y="3140896"/>
              <a:ext cx="8321761" cy="175275"/>
            </a:xfrm>
            <a:prstGeom prst="rect">
              <a:avLst/>
            </a:prstGeom>
          </p:spPr>
        </p:pic>
      </p:grp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CF5570F-1DB9-48EA-9C38-ED2E465AEFAB}"/>
              </a:ext>
            </a:extLst>
          </p:cNvPr>
          <p:cNvSpPr/>
          <p:nvPr/>
        </p:nvSpPr>
        <p:spPr>
          <a:xfrm>
            <a:off x="73891" y="5459767"/>
            <a:ext cx="6886202" cy="151808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5D50A90A-B3A5-43C1-9193-8A074CAB02B7}"/>
              </a:ext>
            </a:extLst>
          </p:cNvPr>
          <p:cNvCxnSpPr/>
          <p:nvPr/>
        </p:nvCxnSpPr>
        <p:spPr>
          <a:xfrm flipH="1">
            <a:off x="3568823" y="3358083"/>
            <a:ext cx="665948" cy="2066173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861509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B64F8AD0-1688-46DA-B683-4915574BC5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0834899" cy="216217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81C5622-4C55-411E-BAA8-C9BF39B8716B}"/>
              </a:ext>
            </a:extLst>
          </p:cNvPr>
          <p:cNvSpPr txBox="1"/>
          <p:nvPr/>
        </p:nvSpPr>
        <p:spPr>
          <a:xfrm>
            <a:off x="85725" y="2296209"/>
            <a:ext cx="1018222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키 페어 생성</a:t>
            </a:r>
            <a:r>
              <a:rPr lang="en-US" altLang="ko-KR"/>
              <a:t> </a:t>
            </a:r>
            <a:r>
              <a:rPr lang="ko-KR" altLang="en-US"/>
              <a:t>및 확인</a:t>
            </a:r>
            <a:endParaRPr lang="en-US" altLang="ko-KR"/>
          </a:p>
          <a:p>
            <a:endParaRPr lang="en-US" altLang="ko-KR"/>
          </a:p>
          <a:p>
            <a:r>
              <a:rPr lang="ko-KR" altLang="en-US"/>
              <a:t>보안을 위해 패스워드를 입력하는 방식이 아닌 키 페어로 인증해서 인스턴스에 접근하는 방식</a:t>
            </a:r>
            <a:endParaRPr lang="en-US" altLang="ko-KR"/>
          </a:p>
          <a:p>
            <a:endParaRPr lang="en-US" altLang="ko-KR"/>
          </a:p>
          <a:p>
            <a:r>
              <a:rPr lang="en-US" altLang="ko-KR"/>
              <a:t>SSH </a:t>
            </a:r>
            <a:r>
              <a:rPr lang="ko-KR" altLang="en-US"/>
              <a:t>방식의 보안키로 공개 키는 서버에</a:t>
            </a:r>
            <a:r>
              <a:rPr lang="en-US" altLang="ko-KR"/>
              <a:t>, </a:t>
            </a:r>
            <a:r>
              <a:rPr lang="ko-KR" altLang="en-US"/>
              <a:t>개인 키는 인스턴스에 설정됨</a:t>
            </a:r>
            <a:r>
              <a:rPr lang="en-US" altLang="ko-KR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0762301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0DD62B39-D42D-4D20-833D-E570BF32C5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0487348" cy="33528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E039174-80C5-4F04-80D2-46B97F509710}"/>
              </a:ext>
            </a:extLst>
          </p:cNvPr>
          <p:cNvSpPr txBox="1"/>
          <p:nvPr/>
        </p:nvSpPr>
        <p:spPr>
          <a:xfrm>
            <a:off x="219075" y="3676650"/>
            <a:ext cx="1125855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Flavor(Nova) </a:t>
            </a:r>
            <a:r>
              <a:rPr lang="ko-KR" altLang="en-US"/>
              <a:t>생성</a:t>
            </a:r>
            <a:endParaRPr lang="en-US" altLang="ko-KR"/>
          </a:p>
          <a:p>
            <a:r>
              <a:rPr lang="en-US" altLang="ko-KR"/>
              <a:t>Flavor</a:t>
            </a:r>
            <a:r>
              <a:rPr lang="ko-KR" altLang="en-US"/>
              <a:t>는 </a:t>
            </a:r>
            <a:r>
              <a:rPr lang="en-US" altLang="ko-KR"/>
              <a:t>admin</a:t>
            </a:r>
            <a:r>
              <a:rPr lang="ko-KR" altLang="en-US"/>
              <a:t>에서만 생성</a:t>
            </a:r>
            <a:r>
              <a:rPr lang="en-US" altLang="ko-KR"/>
              <a:t>, </a:t>
            </a:r>
            <a:r>
              <a:rPr lang="ko-KR" altLang="en-US"/>
              <a:t>관리가 가능하기 때문에</a:t>
            </a:r>
            <a:endParaRPr lang="en-US" altLang="ko-KR"/>
          </a:p>
          <a:p>
            <a:r>
              <a:rPr lang="ko-KR" altLang="en-US"/>
              <a:t>자격증명을 </a:t>
            </a:r>
            <a:r>
              <a:rPr lang="en-US" altLang="ko-KR"/>
              <a:t>admin</a:t>
            </a:r>
            <a:r>
              <a:rPr lang="ko-KR" altLang="en-US"/>
              <a:t>으로 바꾸거나 </a:t>
            </a:r>
            <a:r>
              <a:rPr lang="en-US" altLang="ko-KR"/>
              <a:t>openstack </a:t>
            </a:r>
            <a:r>
              <a:rPr lang="ko-KR" altLang="en-US"/>
              <a:t>계정을 </a:t>
            </a:r>
            <a:r>
              <a:rPr lang="en-US" altLang="ko-KR"/>
              <a:t>admin</a:t>
            </a:r>
            <a:r>
              <a:rPr lang="ko-KR" altLang="en-US"/>
              <a:t>으로 접속해야 한다</a:t>
            </a:r>
            <a:r>
              <a:rPr lang="en-US" altLang="ko-KR"/>
              <a:t>. -&gt; source keystonerc_admin</a:t>
            </a:r>
          </a:p>
          <a:p>
            <a:endParaRPr lang="en-US" altLang="ko-KR"/>
          </a:p>
          <a:p>
            <a:r>
              <a:rPr lang="en-US" altLang="ko-KR"/>
              <a:t>Openstack flavor create :</a:t>
            </a:r>
          </a:p>
          <a:p>
            <a:r>
              <a:rPr lang="en-US" altLang="ko-KR"/>
              <a:t>-- id : flavor</a:t>
            </a:r>
            <a:r>
              <a:rPr lang="ko-KR" altLang="en-US"/>
              <a:t>의 </a:t>
            </a:r>
            <a:r>
              <a:rPr lang="en-US" altLang="ko-KR"/>
              <a:t>ID (</a:t>
            </a:r>
            <a:r>
              <a:rPr lang="ko-KR" altLang="en-US"/>
              <a:t>고유 </a:t>
            </a:r>
            <a:r>
              <a:rPr lang="en-US" altLang="ko-KR"/>
              <a:t>ID</a:t>
            </a:r>
            <a:r>
              <a:rPr lang="ko-KR" altLang="en-US"/>
              <a:t>여야 하기 때문에 중복 허용 안함</a:t>
            </a:r>
            <a:r>
              <a:rPr lang="en-US" altLang="ko-KR"/>
              <a:t>)</a:t>
            </a:r>
          </a:p>
          <a:p>
            <a:r>
              <a:rPr lang="en-US" altLang="ko-KR"/>
              <a:t>-- ram : </a:t>
            </a:r>
            <a:r>
              <a:rPr lang="ko-KR" altLang="en-US"/>
              <a:t>메모리</a:t>
            </a:r>
            <a:endParaRPr lang="en-US" altLang="ko-KR"/>
          </a:p>
          <a:p>
            <a:r>
              <a:rPr lang="en-US" altLang="ko-KR"/>
              <a:t>-- disk : </a:t>
            </a:r>
            <a:r>
              <a:rPr lang="ko-KR" altLang="en-US"/>
              <a:t>디스크 용량</a:t>
            </a:r>
            <a:endParaRPr lang="en-US" altLang="ko-KR"/>
          </a:p>
          <a:p>
            <a:r>
              <a:rPr lang="en-US" altLang="ko-KR"/>
              <a:t>--vcpus : ?</a:t>
            </a:r>
          </a:p>
          <a:p>
            <a:r>
              <a:rPr lang="en-US" altLang="ko-KR"/>
              <a:t>--public :  </a:t>
            </a:r>
            <a:r>
              <a:rPr lang="ko-KR" altLang="en-US"/>
              <a:t>제한없이 누구나 사용 가능</a:t>
            </a:r>
            <a:r>
              <a:rPr lang="en-US" altLang="ko-KR"/>
              <a:t>.</a:t>
            </a:r>
          </a:p>
          <a:p>
            <a:r>
              <a:rPr lang="en-US" altLang="ko-KR"/>
              <a:t>(</a:t>
            </a:r>
            <a:r>
              <a:rPr lang="ko-KR" altLang="en-US"/>
              <a:t>새 </a:t>
            </a:r>
            <a:r>
              <a:rPr lang="en-US" altLang="ko-KR"/>
              <a:t>flavor </a:t>
            </a:r>
            <a:r>
              <a:rPr lang="ko-KR" altLang="en-US"/>
              <a:t>이름</a:t>
            </a:r>
            <a:r>
              <a:rPr lang="en-US" altLang="ko-KR"/>
              <a:t>) : </a:t>
            </a:r>
            <a:r>
              <a:rPr lang="ko-KR" altLang="en-US"/>
              <a:t>마지막에는 새로 만들 </a:t>
            </a:r>
            <a:r>
              <a:rPr lang="en-US" altLang="ko-KR"/>
              <a:t>flavor</a:t>
            </a:r>
            <a:r>
              <a:rPr lang="ko-KR" altLang="en-US"/>
              <a:t>의 이름을 설정해 줘야 함</a:t>
            </a:r>
            <a:r>
              <a:rPr lang="en-US" altLang="ko-KR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127036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1326A775-13E8-4994-B7F0-935772D892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34" y="0"/>
            <a:ext cx="8931414" cy="1676545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1DD9456B-E144-4F07-8D7C-7EFC9B02C3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34" y="1863308"/>
            <a:ext cx="7666384" cy="265199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746A97E-BC55-4E0B-8189-EA8A8C58F6D6}"/>
              </a:ext>
            </a:extLst>
          </p:cNvPr>
          <p:cNvSpPr txBox="1"/>
          <p:nvPr/>
        </p:nvSpPr>
        <p:spPr>
          <a:xfrm>
            <a:off x="7874493" y="2047400"/>
            <a:ext cx="53354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Flavor </a:t>
            </a:r>
            <a:r>
              <a:rPr lang="ko-KR" altLang="en-US"/>
              <a:t>리스트 확인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C70EF99-36CE-4A76-8C62-797868F9DCA0}"/>
              </a:ext>
            </a:extLst>
          </p:cNvPr>
          <p:cNvSpPr/>
          <p:nvPr/>
        </p:nvSpPr>
        <p:spPr>
          <a:xfrm>
            <a:off x="497150" y="905523"/>
            <a:ext cx="6418555" cy="27520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109CDAE-74FD-40D3-9116-4004E937CE60}"/>
              </a:ext>
            </a:extLst>
          </p:cNvPr>
          <p:cNvSpPr/>
          <p:nvPr/>
        </p:nvSpPr>
        <p:spPr>
          <a:xfrm>
            <a:off x="187912" y="2787588"/>
            <a:ext cx="7581806" cy="2323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5002081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F2921BF9-5A74-4BCD-B0B8-7500D2A11A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92972" cy="1394581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0F58EE7C-8DA9-42F0-8F48-F753E6D4AC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94581"/>
            <a:ext cx="10859441" cy="2088061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74CB72AE-343C-4EB1-BC2C-806CC4568F4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967" y="3482642"/>
            <a:ext cx="4320197" cy="326707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200402A-A774-4646-B967-D3A6A8B2934F}"/>
              </a:ext>
            </a:extLst>
          </p:cNvPr>
          <p:cNvSpPr txBox="1"/>
          <p:nvPr/>
        </p:nvSpPr>
        <p:spPr>
          <a:xfrm>
            <a:off x="2207314" y="6248400"/>
            <a:ext cx="4457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적용 후의 네트워크 토폴로지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DDA8C8F-3156-441F-B9B2-CF36F0F7AA71}"/>
              </a:ext>
            </a:extLst>
          </p:cNvPr>
          <p:cNvSpPr txBox="1"/>
          <p:nvPr/>
        </p:nvSpPr>
        <p:spPr>
          <a:xfrm>
            <a:off x="5610225" y="3636737"/>
            <a:ext cx="48768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인스턴스 생성할 때 필요한 것</a:t>
            </a:r>
            <a:endParaRPr lang="en-US" altLang="ko-KR"/>
          </a:p>
          <a:p>
            <a:pPr marL="285750" indent="-285750">
              <a:buFontTx/>
              <a:buChar char="-"/>
            </a:pPr>
            <a:r>
              <a:rPr lang="en-US" altLang="ko-KR"/>
              <a:t>Image</a:t>
            </a:r>
          </a:p>
          <a:p>
            <a:pPr marL="285750" indent="-285750">
              <a:buFontTx/>
              <a:buChar char="-"/>
            </a:pPr>
            <a:r>
              <a:rPr lang="en-US" altLang="ko-KR"/>
              <a:t>Flavor</a:t>
            </a:r>
          </a:p>
          <a:p>
            <a:pPr marL="285750" indent="-285750">
              <a:buFontTx/>
              <a:buChar char="-"/>
            </a:pPr>
            <a:r>
              <a:rPr lang="ko-KR" altLang="en-US"/>
              <a:t>내부 네트워크의 </a:t>
            </a:r>
            <a:r>
              <a:rPr lang="en-US" altLang="ko-KR"/>
              <a:t>ID (ip</a:t>
            </a:r>
            <a:r>
              <a:rPr lang="ko-KR" altLang="en-US"/>
              <a:t>아님</a:t>
            </a:r>
            <a:r>
              <a:rPr lang="en-US" altLang="ko-KR"/>
              <a:t>)</a:t>
            </a:r>
          </a:p>
          <a:p>
            <a:pPr marL="285750" indent="-285750">
              <a:buFontTx/>
              <a:buChar char="-"/>
            </a:pPr>
            <a:r>
              <a:rPr lang="ko-KR" altLang="en-US"/>
              <a:t>보안 그룹</a:t>
            </a:r>
            <a:endParaRPr lang="en-US" altLang="ko-KR"/>
          </a:p>
          <a:p>
            <a:pPr marL="285750" indent="-285750">
              <a:buFontTx/>
              <a:buChar char="-"/>
            </a:pPr>
            <a:r>
              <a:rPr lang="ko-KR" altLang="en-US"/>
              <a:t>키 페어</a:t>
            </a:r>
            <a:r>
              <a:rPr lang="en-US" altLang="ko-KR"/>
              <a:t>(SSH</a:t>
            </a:r>
            <a:r>
              <a:rPr lang="ko-KR" altLang="en-US"/>
              <a:t> 보안 필요 시</a:t>
            </a:r>
            <a:r>
              <a:rPr lang="en-US" altLang="ko-KR"/>
              <a:t>)</a:t>
            </a:r>
          </a:p>
          <a:p>
            <a:pPr marL="285750" indent="-285750">
              <a:buFontTx/>
              <a:buChar char="-"/>
            </a:pPr>
            <a:r>
              <a:rPr lang="ko-KR" altLang="en-US"/>
              <a:t>생성할 인스턴스의 이름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962322E-A3D5-478A-8C90-ED26920B493D}"/>
              </a:ext>
            </a:extLst>
          </p:cNvPr>
          <p:cNvSpPr txBox="1"/>
          <p:nvPr/>
        </p:nvSpPr>
        <p:spPr>
          <a:xfrm>
            <a:off x="7629525" y="697290"/>
            <a:ext cx="52492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외부 네트워크 접속을 위해</a:t>
            </a:r>
            <a:endParaRPr lang="en-US" altLang="ko-KR"/>
          </a:p>
          <a:p>
            <a:r>
              <a:rPr lang="en-US" altLang="ko-KR"/>
              <a:t>Floating IP</a:t>
            </a:r>
            <a:r>
              <a:rPr lang="ko-KR" altLang="en-US"/>
              <a:t>를 할당해줘야 한다</a:t>
            </a:r>
            <a:r>
              <a:rPr lang="en-US" altLang="ko-KR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182823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F072949-9EE9-4C68-A6E2-3299222C5CBF}"/>
              </a:ext>
            </a:extLst>
          </p:cNvPr>
          <p:cNvSpPr txBox="1"/>
          <p:nvPr/>
        </p:nvSpPr>
        <p:spPr>
          <a:xfrm>
            <a:off x="0" y="55031"/>
            <a:ext cx="53443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Block Storage (</a:t>
            </a:r>
            <a:r>
              <a:rPr lang="ko-KR" altLang="en-US"/>
              <a:t>블록 스토리지</a:t>
            </a:r>
            <a:r>
              <a:rPr lang="en-US" altLang="ko-KR"/>
              <a:t>, Cinder)</a:t>
            </a:r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031C7F6-9165-4503-871D-355C8D2199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20" y="424363"/>
            <a:ext cx="9876673" cy="1889924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939A689A-ACFA-4857-A582-DB4FC2385B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20" y="3265994"/>
            <a:ext cx="8604875" cy="230703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D3C64B6-41BA-46DC-8289-1D8E05061D6F}"/>
              </a:ext>
            </a:extLst>
          </p:cNvPr>
          <p:cNvSpPr txBox="1"/>
          <p:nvPr/>
        </p:nvSpPr>
        <p:spPr>
          <a:xfrm>
            <a:off x="152400" y="2466975"/>
            <a:ext cx="75914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스토리지 생성 시 미리 업로드 된 이미지 파일을 등록할 수 있다</a:t>
            </a:r>
            <a:r>
              <a:rPr lang="en-US" altLang="ko-KR"/>
              <a:t>.</a:t>
            </a:r>
          </a:p>
          <a:p>
            <a:r>
              <a:rPr lang="en-US" altLang="ko-KR"/>
              <a:t>-&gt; </a:t>
            </a:r>
            <a:r>
              <a:rPr lang="ko-KR" altLang="en-US"/>
              <a:t>주로 </a:t>
            </a:r>
            <a:r>
              <a:rPr lang="en-US" altLang="ko-KR"/>
              <a:t>OS</a:t>
            </a:r>
            <a:r>
              <a:rPr lang="ko-KR" altLang="en-US"/>
              <a:t>를 깔기 위한 </a:t>
            </a:r>
            <a:r>
              <a:rPr lang="en-US" altLang="ko-KR"/>
              <a:t>root </a:t>
            </a:r>
            <a:r>
              <a:rPr lang="ko-KR" altLang="en-US"/>
              <a:t>스토리지로 활용 할 때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D3B0E3D-59BC-4168-B822-8C860170699F}"/>
              </a:ext>
            </a:extLst>
          </p:cNvPr>
          <p:cNvSpPr txBox="1"/>
          <p:nvPr/>
        </p:nvSpPr>
        <p:spPr>
          <a:xfrm>
            <a:off x="152400" y="5772150"/>
            <a:ext cx="79533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이미지 파일 없이 그냥 빈 스토리지를 별도로 하나 더 만들 수 있다</a:t>
            </a:r>
            <a:r>
              <a:rPr lang="en-US" altLang="ko-KR"/>
              <a:t>.</a:t>
            </a:r>
          </a:p>
          <a:p>
            <a:r>
              <a:rPr lang="en-US" altLang="ko-KR"/>
              <a:t>-&gt; </a:t>
            </a:r>
            <a:r>
              <a:rPr lang="ko-KR" altLang="en-US"/>
              <a:t>주로 데이터를 저장하기 위한 스토리지로 활용 할 때</a:t>
            </a:r>
          </a:p>
        </p:txBody>
      </p:sp>
    </p:spTree>
    <p:extLst>
      <p:ext uri="{BB962C8B-B14F-4D97-AF65-F5344CB8AC3E}">
        <p14:creationId xmlns:p14="http://schemas.microsoft.com/office/powerpoint/2010/main" val="10122411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6B765309-3307-476F-BBAC-AB1144DD66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426" y="245688"/>
            <a:ext cx="9441998" cy="1318374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F8F7CC80-5732-44A6-9598-9ECDA42D90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426" y="1674447"/>
            <a:ext cx="7781169" cy="131837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6AE46C6-50A7-428E-BE18-88DE6EF99CB1}"/>
              </a:ext>
            </a:extLst>
          </p:cNvPr>
          <p:cNvSpPr txBox="1"/>
          <p:nvPr/>
        </p:nvSpPr>
        <p:spPr>
          <a:xfrm>
            <a:off x="314325" y="3326178"/>
            <a:ext cx="6457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볼륨 리스트 화면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969DD16-4E81-4176-8E2B-21C137B6557A}"/>
              </a:ext>
            </a:extLst>
          </p:cNvPr>
          <p:cNvSpPr/>
          <p:nvPr/>
        </p:nvSpPr>
        <p:spPr>
          <a:xfrm>
            <a:off x="4953740" y="2441359"/>
            <a:ext cx="1580225" cy="21306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7D8D893A-7F28-4D9E-ACE9-46A2A95C5DDD}"/>
              </a:ext>
            </a:extLst>
          </p:cNvPr>
          <p:cNvCxnSpPr>
            <a:cxnSpLocks/>
            <a:stCxn id="7" idx="3"/>
            <a:endCxn id="11" idx="1"/>
          </p:cNvCxnSpPr>
          <p:nvPr/>
        </p:nvCxnSpPr>
        <p:spPr>
          <a:xfrm>
            <a:off x="6533965" y="2547891"/>
            <a:ext cx="1858392" cy="6036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88938F79-497E-4549-98C4-1A72453FBF60}"/>
              </a:ext>
            </a:extLst>
          </p:cNvPr>
          <p:cNvSpPr txBox="1"/>
          <p:nvPr/>
        </p:nvSpPr>
        <p:spPr>
          <a:xfrm>
            <a:off x="8392357" y="1731093"/>
            <a:ext cx="379964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에러가 나서 사용이 불가능하다면</a:t>
            </a:r>
            <a:endParaRPr lang="en-US" altLang="ko-KR"/>
          </a:p>
          <a:p>
            <a:r>
              <a:rPr lang="en-US" altLang="ko-KR"/>
              <a:t>Df</a:t>
            </a:r>
            <a:r>
              <a:rPr lang="ko-KR" altLang="en-US"/>
              <a:t> </a:t>
            </a:r>
            <a:r>
              <a:rPr lang="en-US" altLang="ko-KR"/>
              <a:t>–h</a:t>
            </a:r>
            <a:r>
              <a:rPr lang="ko-KR" altLang="en-US"/>
              <a:t>로 여유공간이 부족하지 않는지 확인해보는것이 좋음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en-US" altLang="ko-KR"/>
              <a:t>(</a:t>
            </a:r>
            <a:r>
              <a:rPr lang="ko-KR" altLang="en-US"/>
              <a:t>가장 흔히 일어나는 오류가 용량부족</a:t>
            </a:r>
            <a:r>
              <a:rPr lang="en-US" altLang="ko-KR"/>
              <a:t>)</a:t>
            </a:r>
            <a:endParaRPr lang="ko-KR" altLang="en-US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184AB1CB-57F7-4165-BB07-FAEE260D493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664" y="5183553"/>
            <a:ext cx="8222693" cy="1257409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691A6C27-2CD4-4851-848A-2AC84DA659EF}"/>
              </a:ext>
            </a:extLst>
          </p:cNvPr>
          <p:cNvSpPr txBox="1"/>
          <p:nvPr/>
        </p:nvSpPr>
        <p:spPr>
          <a:xfrm>
            <a:off x="203426" y="4028868"/>
            <a:ext cx="83335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Openstack</a:t>
            </a:r>
            <a:r>
              <a:rPr lang="ko-KR" altLang="en-US"/>
              <a:t> </a:t>
            </a:r>
            <a:r>
              <a:rPr lang="en-US" altLang="ko-KR"/>
              <a:t>server</a:t>
            </a:r>
            <a:r>
              <a:rPr lang="ko-KR" altLang="en-US"/>
              <a:t> </a:t>
            </a:r>
            <a:r>
              <a:rPr lang="en-US" altLang="ko-KR"/>
              <a:t>add</a:t>
            </a:r>
            <a:r>
              <a:rPr lang="ko-KR" altLang="en-US"/>
              <a:t> </a:t>
            </a:r>
            <a:r>
              <a:rPr lang="en-US" altLang="ko-KR"/>
              <a:t>volume instance_kim (attach</a:t>
            </a:r>
            <a:r>
              <a:rPr lang="ko-KR" altLang="en-US"/>
              <a:t>할 볼륨 </a:t>
            </a:r>
            <a:r>
              <a:rPr lang="en-US" altLang="ko-KR"/>
              <a:t>ID)</a:t>
            </a:r>
            <a:endParaRPr lang="ko-KR" altLang="en-US"/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93F2EE0B-E58A-4236-8FA7-8BA3AE95F29E}"/>
              </a:ext>
            </a:extLst>
          </p:cNvPr>
          <p:cNvCxnSpPr>
            <a:cxnSpLocks/>
            <a:stCxn id="16" idx="2"/>
            <a:endCxn id="15" idx="0"/>
          </p:cNvCxnSpPr>
          <p:nvPr/>
        </p:nvCxnSpPr>
        <p:spPr>
          <a:xfrm flipH="1">
            <a:off x="4281011" y="4398200"/>
            <a:ext cx="89211" cy="78535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173A1BCF-6310-429D-94FF-E0CED24AB1C1}"/>
              </a:ext>
            </a:extLst>
          </p:cNvPr>
          <p:cNvSpPr txBox="1"/>
          <p:nvPr/>
        </p:nvSpPr>
        <p:spPr>
          <a:xfrm>
            <a:off x="8537018" y="5434248"/>
            <a:ext cx="27717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인스턴스에</a:t>
            </a:r>
            <a:endParaRPr lang="en-US" altLang="ko-KR"/>
          </a:p>
          <a:p>
            <a:r>
              <a:rPr lang="ko-KR" altLang="en-US"/>
              <a:t>볼륨이 </a:t>
            </a:r>
            <a:r>
              <a:rPr lang="en-US" altLang="ko-KR"/>
              <a:t>attach</a:t>
            </a:r>
            <a:r>
              <a:rPr lang="ko-KR" altLang="en-US"/>
              <a:t>됨</a:t>
            </a:r>
            <a:r>
              <a:rPr lang="en-US" altLang="ko-KR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63191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530</TotalTime>
  <Words>1189</Words>
  <Application>Microsoft Office PowerPoint</Application>
  <PresentationFormat>와이드스크린</PresentationFormat>
  <Paragraphs>239</Paragraphs>
  <Slides>37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37</vt:i4>
      </vt:variant>
    </vt:vector>
  </HeadingPairs>
  <TitlesOfParts>
    <vt:vector size="40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RAPA</dc:creator>
  <cp:lastModifiedBy>RAPA</cp:lastModifiedBy>
  <cp:revision>32</cp:revision>
  <dcterms:created xsi:type="dcterms:W3CDTF">2019-01-07T06:00:44Z</dcterms:created>
  <dcterms:modified xsi:type="dcterms:W3CDTF">2019-01-17T04:00:31Z</dcterms:modified>
</cp:coreProperties>
</file>